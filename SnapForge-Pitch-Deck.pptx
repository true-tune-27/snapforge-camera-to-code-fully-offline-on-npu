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CF5"/>
                </a:solidFill>
                <a:latin typeface="Arial"/>
              </a:defRPr>
            </a:pPr>
            <a:r>
              <a:rPr sz="1200" b="0" i="0" u="none" strike="noStrike">
                <a:solidFill>
                  <a:srgbClr val="E8ECF5"/>
                </a:solidFill>
                <a:latin typeface="Arial"/>
              </a:rPr>
              <a:t>Pipeline stage budget (seconds)</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FF7A18"/>
            </a:solidFill>
            <a:effectLst/>
          </c:spPr>
          <c:invertIfNegative val="0"/>
          <c:dLbls>
            <c:numFmt formatCode="0.00&quot;s&quot;" sourceLinked="0"/>
            <c:txPr>
              <a:bodyPr/>
              <a:lstStyle/>
              <a:p>
                <a:pPr>
                  <a:defRPr b="0" i="0" strike="noStrike" sz="1100" u="none">
                    <a:solidFill>
                      <a:srgbClr val="FFB347"/>
                    </a:solidFill>
                    <a:latin typeface="Arial"/>
                  </a:defRPr>
                </a:pPr>
              </a:p>
            </c:txPr>
            <c:showLegendKey val="0"/>
            <c:showVal val="1"/>
            <c:showCatName val="0"/>
            <c:showSerName val="0"/>
            <c:showPercent val="0"/>
            <c:showBubbleSize val="0"/>
            <c:showLeaderLines val="0"/>
          </c:dLbls>
          <c:cat>
            <c:multiLvlStrRef>
              <c:f>Sheet1!$A$2:$A$5</c:f>
              <c:multiLvlStrCache>
                <c:ptCount val="4"/>
                <c:lvl>
                  <c:pt idx="0">
                    <c:v>Transport + render</c:v>
                  </c:pt>
                  <c:pt idx="1">
                    <c:v>NPU forge</c:v>
                  </c:pt>
                  <c:pt idx="2">
                    <c:v>Detect</c:v>
                  </c:pt>
                  <c:pt idx="3">
                    <c:v>Rectify</c:v>
                  </c:pt>
                </c:lvl>
              </c:multiLvlStrCache>
            </c:multiLvlStrRef>
          </c:cat>
          <c:val>
            <c:numRef>
              <c:f>Sheet1!$B$2:$B$5</c:f>
              <c:numCache>
                <c:formatCode>General</c:formatCode>
                <c:ptCount val="4"/>
                <c:pt idx="0">
                  <c:v>0.55</c:v>
                </c:pt>
                <c:pt idx="1">
                  <c:v>1.2</c:v>
                </c:pt>
                <c:pt idx="2">
                  <c:v>0.4</c:v>
                </c:pt>
                <c:pt idx="3">
                  <c:v>0.35</c:v>
                </c:pt>
              </c:numCache>
            </c:numRef>
          </c:val>
        </c:ser>
        <c:dLbls>
          <c:numFmt formatCode="0.00&quot;s&quot;" sourceLinked="0"/>
          <c:txPr>
            <a:bodyPr/>
            <a:lstStyle/>
            <a:p>
              <a:pPr>
                <a:defRPr b="0" i="0" strike="noStrike" sz="1100" u="none">
                  <a:solidFill>
                    <a:srgbClr val="FFB347"/>
                  </a:solidFill>
                  <a:latin typeface="Arial"/>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E8ECF5"/>
                </a:solidFill>
                <a:latin typeface="Arial"/>
              </a:defRPr>
            </a:pPr>
            <a:endParaRPr lang="en-US"/>
          </a:p>
        </c:txPr>
        <c:crossAx val="2094734552"/>
        <c:crosses val="autoZero"/>
        <c:auto val="1"/>
        <c:lblAlgn val="ctr"/>
        <c:noMultiLvlLbl val="1"/>
      </c:catAx>
      <c:valAx>
        <c:axId val="2094734552"/>
        <c:scaling>
          <c:orientation val="minMax"/>
          <c:max val="1.5"/>
        </c:scaling>
        <c:delete val="0"/>
        <c:axPos val="b"/>
        <c:majorGridlines>
          <c:spPr>
            <a:ln w="12700" cap="flat">
              <a:solidFill>
                <a:srgbClr val="1E274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50" b="0" i="0" u="none" strike="noStrike">
                <a:solidFill>
                  <a:srgbClr val="8A94AB"/>
                </a:solidFill>
                <a:latin typeface="Arial"/>
              </a:defRPr>
            </a:pPr>
            <a:endParaRPr lang="en-US"/>
          </a:p>
        </c:txPr>
        <c:crossAx val="2094734554"/>
        <c:crosses val="autoZero"/>
        <c:crossBetween val="between"/>
        <c:majorUnit val="0.5"/>
      </c:valAx>
      <c:spPr>
        <a:solidFill>
          <a:srgbClr val="0E1524"/>
        </a:solidFill>
        <a:ln>
          <a:noFill/>
        </a:ln>
        <a:effectLst/>
      </c:spPr>
    </c:plotArea>
    <c:plotVisOnly val="1"/>
    <c:dispBlanksAs val="span"/>
  </c:chart>
  <c:spPr>
    <a:solidFill>
      <a:srgbClr val="0E15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0:15]  TITLE
Say: "Hi judges. We're team YOUR TEAM NAME, and this is SnapForge — an edge-AI
developer tool that turns a physical whiteboard sketch into production-ready
React code, instantly, using nothing but the phone in your pocket."
[CLICK 1] the SnapForge logo zooms in
[CLICK 2] "Code at the Edge" + the one-line promise
[CLICK 3] team name and hardware line
Tip: before recording, replace YOUR TEAM NAME here and on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0:45]  THE PROBLEM
Say: "Every great app starts on a whiteboard. Product managers and engineers
spend hours getting these wireframes exactly right — and then the sketch dies.
Someone has to sit down and translate those marker lines into component-driven
enterprise code, by hand. That is days of typing, and it is the single biggest
bottleneck between a good idea and a screen you can actually click."
[CLICK 1] headline
[CLICK 2] the whiteboard — "this part takes an hour and everyone enjoys it"
[CLICK 3] the arrow — pause here, this is the gap
[CLICK 4] the 3 a.m. editor — "this part takes three days and nobody enjoys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1:05]  WHY THE OBVIOUS ANSWER FAILS
Say: "Now you are thinking — can't I just photograph it and hand it to a chatbot?
You can. Enterprise companies just won't let you. Sending proprietary, unreleased
app designs to a public cloud API is a security incident waiting to happen. And
even where it is allowed, a general model writes generic markup, not code that
uses your company's design system. It also needs Wi-Fi, which in a locked
building — or at a hackathon — is optimistic."
[CLICK 1] headline   [CLICK 2] the illustration
[CLICK 3,4,5] the three failures, one per beat
[CLICK 6] land the line about design data. Then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1:15]  THE DEMO CARD
Say: "So let me just show you. Watch the phone. No internet, no cloud."
[CLICK 1] "THE SOLUTION"   [CLICK 2] WATCH.   [CLICK 3] the sub-line
[CLICK 4] the three pills
YOUTUBE EDIT: this is your cut point. Hold this slide for a beat, then cut to
the screen recording / phone footage. Come back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2:30]  LIVE DEMO WALKTHROUGH
Do this live, or narrate over your recorded demo footage. One click per step.
Say: "I sweep the board. The phone captures eight frames and vibrates once.
OpenCV rectifies them. MediaPipe detects the structure. The Snapdragon NPU
forges a layout. And through iQOO Office Kit's shared clipboard, perfectly
formatted React lands on a new branch in VS Code on my laptop. No internet.
No cloud. Two and a half seconds."
[CLICK 1] headline  [CLICK 2] the phone  [CLICKS 3-8] one per step
[CLICK 9] the 2.5-second line
Point at the laptop on step 6. Let the judges see the branch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3:05]  ARCHITECTURE
Say: "How is this possible offline? We sweep eight frames and rectify them with
OpenCV. MediaPipe detects the boxes and the text runs. That structure goes to a
five-hundred-million-parameter vision model — SmolVLM — running entirely on the
Hexagon tensor processor through Qualcomm QNN. It returns a layout. Office Kit
carries it across. Our companion CLI writes the TSX."
[CLICKS 1-8] the pipeline builds one stage at a time, left to right.
Stage 04 is the highlighted one — that is the stage nobody else can do offline.
[CLICK 9] the three metrics. Land on "zero bytes transmitted."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 – 3:30]  THE SECRET SAUCE
Say: "Here is the trick: the AI does not write code. Language models hallucinate
code — imports that don't exist, props that were never defined. Instead we use
grammar-constrained decoding. The NPU is strictly forced to output a deterministic
JSON layout. Our companion app then renders that JSON into real React components
mapped to your local repo."
[CLICK 1] headline
[CLICK 2] the failure case — point at the invented import
[CLICK 3] the constrained output
[CLICK 4] the payoff line
This is the slide a technical judge will remember.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4:05]  THE HARDWARE CASE
Say: "We built this specifically for the iQOO ecosystem, because it needs real
on-device compute. The Snapdragon 8s Gen 3 Hexagon NPU handles INT4 quantisation,
which is what lets a vision model this size run in about 1.2 seconds instead of
minutes. On the CPU alone this demo does not exist."
[CLICK 1] headline  [CLICK 2] the chip — point at the glowing NPU layer
[CLICKS 3,4,5] the three reasons
If a judge asks whether the NPU ran live today, answer honestly — the Q&amp;A slide
near the end has the exact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 4:25]  THE TRANSPORT
Say: "Second, we solved the phone-to-laptop problem natively. Instead of asking
the user to wire up ADB or type in IP addresses, we use Office Kit's shared
clipboard. The Android app writes the payload, Office Kit syncs it to Windows,
and our Node CLI picks it up and generates the code. Zero friction, and nothing
to configure on stage."
[CLICK 1] headline  [CLICK 2] the diagram  [CLICKS 3,4,5] the three hops
[CLICK 6] the closing line
If you are recording: this is a good place to show the terminal actually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 – 4:40]  THE NUMBERS
Say: "Two and a half seconds, marker to compiling component. The heavy part —
the vision model — is about 1.2 seconds of that on the NPU. Five hundred million
parameters, four-bit, entirely on the handset. And zero bytes to any external
service."
[CLICK 1] headline  [CLICK 2] the four metrics cascade
[CLICK 3] the stage breakdown  [CLICK 4] the source note
IMPORTANT: the chart is a native PowerPoint chart. Right-click &gt; Edit Data to
swap in your own measured numbers before you record. The stage split shown here
sums to 2.5s and matches the 1.2s NPU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4:55]  MARKET
Say: "Who needs this? Enterprise dev teams who need strict privacy. Agencies
doing rapid prototyping in front of a client. And developers at hackathons like
this one. SnapForge bridges the physical-to-digital gap securely and instantly."
[CLICK 1] headline  [CLICKS 2,3,4] one audience per beat  [CLICK 5] the close
If you are short on time in the live pitch, click once and speak over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 – 5:10]  ROADMAP
Say: "Today we generate single React screens. Tomorrow we use the Hexagon NPU's
audio capability for real-time voice edits — 'change that card to a list' — and
we expand the deterministic renderer to output Flutter, SwiftUI and Vue."
[CLICK 1] headline  [CLICKS 2,3,4] Now, Next, Later  [CLICK 5] the close
Keep this fast. The roadmap is a promise, not a proof —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PREPARATION (hold this slide during questions)
This slide is for the recorded version and for your own rehearsal. In a live
5-minute pitch, skip straight from the roadmap to the conclusion and keep this
one in your back pocket.
Rehearse answer 2 out loud until it is 15 seconds. Do not pad it, do not
apologise for it. "Here is exactly what is built, here is exactly what is
stubbed, here is the one-line change to swap it in" is a strong answer.
If a technical judge asks for code, show in this order:
  1. android/.../capture/CaptureScreen.kt   - the isProcessing state machine
  2. android/.../transport/OfficeKitTransport.kt - ClipboardManager.setPrimaryClip()
  3. companion/src/transport/clipboard.ts   - the PowerShell Get-Clipboard listener
  4. android/.../assets/preview.html        - JSON parsed locally into the tree + TSX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5:30]  CLOSE
Say: "SnapForge proves that with iQOO and Snapdragon, the cloud is no longer
required for heavy AI. We are bringing development to the edge. Thank you."
[CLICK 1] the logo  [CLICK 2] the headline  [CLICK 3] the QR  [CLICK 4] thank you
BEFORE RECORDING:
  - replace YOUR TEAM NAME (this slide and slide 1)
  - drop a real QR image over the dashed box, and fix the repo URL
  - end the recording on this slide held for 3-4 seconds of silence
Then stop talking. Let it sit. Take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build/img/bg_title.jpg">    </p:cNvPr>
          <p:cNvPicPr>
            <a:picLocks noChangeAspect="1"/>
          </p:cNvPicPr>
          <p:nvPr/>
        </p:nvPicPr>
        <p:blipFill>
          <a:blip r:embed="rId1"/>
          <a:stretch>
            <a:fillRect/>
          </a:stretch>
        </p:blipFill>
        <p:spPr>
          <a:xfrm>
            <a:off x="0" y="0"/>
            <a:ext cx="12191695" cy="6858000"/>
          </a:xfrm>
          <a:prstGeom prst="rect">
            <a:avLst/>
          </a:prstGeom>
        </p:spPr>
      </p:pic>
      <p:pic>
        <p:nvPicPr>
          <p:cNvPr id="3" name="mark" descr="/home/claude/build/img/wordmark.png">    </p:cNvPr>
          <p:cNvPicPr>
            <a:picLocks noChangeAspect="1"/>
          </p:cNvPicPr>
          <p:nvPr/>
        </p:nvPicPr>
        <p:blipFill>
          <a:blip r:embed="rId2"/>
          <a:stretch>
            <a:fillRect/>
          </a:stretch>
        </p:blipFill>
        <p:spPr>
          <a:xfrm>
            <a:off x="2624328" y="1783080"/>
            <a:ext cx="6949440" cy="1645920"/>
          </a:xfrm>
          <a:prstGeom prst="rect">
            <a:avLst/>
          </a:prstGeom>
        </p:spPr>
      </p:pic>
      <p:sp>
        <p:nvSpPr>
          <p:cNvPr id="4" name="tag"/>
          <p:cNvSpPr txBox="1"/>
          <p:nvPr/>
        </p:nvSpPr>
        <p:spPr>
          <a:xfrm>
            <a:off x="0" y="3584448"/>
            <a:ext cx="12191695" cy="384048"/>
          </a:xfrm>
          <a:prstGeom prst="rect">
            <a:avLst/>
          </a:prstGeom>
          <a:noFill/>
          <a:ln/>
        </p:spPr>
        <p:txBody>
          <a:bodyPr wrap="square" lIns="0" tIns="0" rIns="0" bIns="0" rtlCol="0" anchor="ctr"/>
          <a:lstStyle/>
          <a:p>
            <a:pPr algn="ctr" indent="0" marL="0">
              <a:buNone/>
            </a:pPr>
            <a:r>
              <a:rPr lang="en-US" sz="1900" b="1" spc="800" kern="0" dirty="0">
                <a:solidFill>
                  <a:srgbClr val="22D3EE"/>
                </a:solidFill>
                <a:latin typeface="Arial" pitchFamily="34" charset="0"/>
                <a:ea typeface="Arial" pitchFamily="34" charset="-122"/>
                <a:cs typeface="Arial" pitchFamily="34" charset="-120"/>
              </a:rPr>
              <a:t>CODE AT THE EDGE</a:t>
            </a:r>
            <a:endParaRPr lang="en-US" sz="1900" dirty="0"/>
          </a:p>
        </p:txBody>
      </p:sp>
      <p:sp>
        <p:nvSpPr>
          <p:cNvPr id="5" name="sub"/>
          <p:cNvSpPr txBox="1"/>
          <p:nvPr/>
        </p:nvSpPr>
        <p:spPr>
          <a:xfrm>
            <a:off x="1280160" y="4069080"/>
            <a:ext cx="9628632" cy="365760"/>
          </a:xfrm>
          <a:prstGeom prst="rect">
            <a:avLst/>
          </a:prstGeom>
          <a:noFill/>
          <a:ln/>
        </p:spPr>
        <p:txBody>
          <a:bodyPr wrap="square" lIns="0" tIns="0" rIns="0" bIns="0" rtlCol="0" anchor="ctr"/>
          <a:lstStyle/>
          <a:p>
            <a:pPr algn="ctr" indent="0" marL="0">
              <a:buNone/>
            </a:pPr>
            <a:r>
              <a:rPr lang="en-US" sz="1500" dirty="0">
                <a:solidFill>
                  <a:srgbClr val="8A94AB"/>
                </a:solidFill>
                <a:latin typeface="Arial" pitchFamily="34" charset="0"/>
                <a:ea typeface="Arial" pitchFamily="34" charset="-122"/>
                <a:cs typeface="Arial" pitchFamily="34" charset="-120"/>
              </a:rPr>
              <a:t>A whiteboard sketch becomes production React in 2.5 seconds — on the phone, with the radios off.</a:t>
            </a:r>
            <a:endParaRPr lang="en-US" sz="1500" dirty="0"/>
          </a:p>
        </p:txBody>
      </p:sp>
      <p:sp>
        <p:nvSpPr>
          <p:cNvPr id="6" name="team"/>
          <p:cNvSpPr txBox="1"/>
          <p:nvPr/>
        </p:nvSpPr>
        <p:spPr>
          <a:xfrm>
            <a:off x="0" y="5486400"/>
            <a:ext cx="12191695" cy="310896"/>
          </a:xfrm>
          <a:prstGeom prst="rect">
            <a:avLst/>
          </a:prstGeom>
          <a:noFill/>
          <a:ln/>
        </p:spPr>
        <p:txBody>
          <a:bodyPr wrap="square" lIns="0" tIns="0" rIns="0" bIns="0" rtlCol="0" anchor="ctr"/>
          <a:lstStyle/>
          <a:p>
            <a:pPr algn="ctr" indent="0" marL="0">
              <a:buNone/>
            </a:pPr>
            <a:r>
              <a:rPr lang="en-US" sz="1300" b="1" spc="200" kern="0" dirty="0">
                <a:solidFill>
                  <a:srgbClr val="E8ECF5"/>
                </a:solidFill>
                <a:latin typeface="Arial" pitchFamily="34" charset="0"/>
                <a:ea typeface="Arial" pitchFamily="34" charset="-122"/>
                <a:cs typeface="Arial" pitchFamily="34" charset="-120"/>
              </a:rPr>
              <a:t>TEAM  ·  YOUR TEAM NAME</a:t>
            </a:r>
            <a:endParaRPr lang="en-US" sz="1300" dirty="0"/>
          </a:p>
        </p:txBody>
      </p:sp>
      <p:sp>
        <p:nvSpPr>
          <p:cNvPr id="7" name="tech"/>
          <p:cNvSpPr txBox="1"/>
          <p:nvPr/>
        </p:nvSpPr>
        <p:spPr>
          <a:xfrm>
            <a:off x="0" y="5870448"/>
            <a:ext cx="12191695" cy="292608"/>
          </a:xfrm>
          <a:prstGeom prst="rect">
            <a:avLst/>
          </a:prstGeom>
          <a:noFill/>
          <a:ln/>
        </p:spPr>
        <p:txBody>
          <a:bodyPr wrap="square" lIns="0" tIns="0" rIns="0" bIns="0" rtlCol="0" anchor="ctr"/>
          <a:lstStyle/>
          <a:p>
            <a:pPr algn="ctr" indent="0" marL="0">
              <a:buNone/>
            </a:pPr>
            <a:r>
              <a:rPr lang="en-US" sz="1050" spc="240" kern="0" dirty="0">
                <a:solidFill>
                  <a:srgbClr val="8A94AB"/>
                </a:solidFill>
                <a:latin typeface="Arial" pitchFamily="34" charset="0"/>
                <a:ea typeface="Arial" pitchFamily="34" charset="-122"/>
                <a:cs typeface="Arial" pitchFamily="34" charset="-120"/>
              </a:rPr>
              <a:t>iQOO HACKATHON   ·   SNAPDRAGON 8s GEN 3   ·   HEXAGON NPU   ·   iQOO OFFICE KIT</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23" presetClass="entr" presetSubtype="16"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900"/>
                                        <p:tgtEl>
                                          <p:spTgt spid="3"/>
                                        </p:tgtEl>
                                      </p:cBhvr>
                                    </p:animEffect>
                                    <p:animScale>
                                      <p:cBhvr>
                                        <p:cTn id="6" dur="900" fill="hold"/>
                                        <p:tgtEl>
                                          <p:spTgt spid="3"/>
                                        </p:tgtEl>
                                      </p:cBhvr>
                                      <p:from x="62000" y="62000"/>
                                      <p:to x="100000" y="100000"/>
                                    </p:animScale>
                                  </p:childTnLst>
                                </p:cTn>
                              </p:par>
                            </p:childTnLst>
                          </p:cTn>
                        </p:par>
                      </p:childTnLst>
                    </p:cTn>
                  </p:par>
                  <p:par>
                    <p:cTn id="16" fill="hold">
                      <p:stCondLst>
                        <p:cond delay="indefinite"/>
                      </p:stCondLst>
                      <p:childTnLst>
                        <p:par>
                          <p:cTn id="17" fill="hold">
                            <p:stCondLst>
                              <p:cond delay="0"/>
                            </p:stCondLst>
                            <p:childTnLst>
                              <p:par>
                                <p:cTn id="9" presetID="4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50"/>
                                        <p:tgtEl>
                                          <p:spTgt spid="4"/>
                                        </p:tgtEl>
                                      </p:cBhvr>
                                    </p:animEffect>
                                    <p:anim calcmode="lin" valueType="num">
                                      <p:cBhvr additive="base">
                                        <p:cTn id="12" dur="650" fill="hold"/>
                                        <p:tgtEl>
                                          <p:spTgt spid="4"/>
                                        </p:tgtEl>
                                        <p:attrNameLst>
                                          <p:attrName>ppt_y</p:attrName>
                                        </p:attrNameLst>
                                      </p:cBhvr>
                                      <p:tavLst>
                                        <p:tav tm="0">
                                          <p:val>
                                            <p:strVal val="#ppt_y+0.045"/>
                                          </p:val>
                                        </p:tav>
                                        <p:tav tm="100000">
                                          <p:val>
                                            <p:strVal val="#ppt_y"/>
                                          </p:val>
                                        </p:tav>
                                      </p:tavLst>
                                    </p:anim>
                                  </p:childTnLst>
                                </p:cTn>
                              </p:par>
                              <p:par>
                                <p:cTn id="13" presetID="10" presetClass="entr" presetSubtype="0" fill="hold" grpId="0"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2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PROBLEM</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Every great app starts on a </a:t>
            </a:r>
            <a:pPr algn="l" indent="0" marL="0">
              <a:buNone/>
            </a:pPr>
            <a:r>
              <a:rPr lang="en-US" sz="3300" b="1" dirty="0">
                <a:solidFill>
                  <a:srgbClr val="FF7A18"/>
                </a:solidFill>
                <a:latin typeface="Arial" pitchFamily="34" charset="0"/>
                <a:ea typeface="Arial" pitchFamily="34" charset="-122"/>
                <a:cs typeface="Arial" pitchFamily="34" charset="-120"/>
              </a:rPr>
              <a:t>whiteboard.</a:t>
            </a:r>
            <a:endParaRPr lang="en-US" sz="3300" dirty="0"/>
          </a:p>
        </p:txBody>
      </p:sp>
      <p:sp>
        <p:nvSpPr>
          <p:cNvPr id="5" name="sub"/>
          <p:cNvSpPr txBox="1"/>
          <p:nvPr/>
        </p:nvSpPr>
        <p:spPr>
          <a:xfrm>
            <a:off x="685800" y="1444752"/>
            <a:ext cx="10515600" cy="310896"/>
          </a:xfrm>
          <a:prstGeom prst="rect">
            <a:avLst/>
          </a:prstGeom>
          <a:noFill/>
          <a:ln/>
        </p:spPr>
        <p:txBody>
          <a:bodyPr wrap="square" lIns="0" tIns="0" rIns="0" bIns="0" rtlCol="0" anchor="ctr"/>
          <a:lstStyle/>
          <a:p>
            <a:pPr algn="l" indent="0" marL="0">
              <a:buNone/>
            </a:pPr>
            <a:r>
              <a:rPr lang="en-US" sz="1450" dirty="0">
                <a:solidFill>
                  <a:srgbClr val="8A94AB"/>
                </a:solidFill>
                <a:latin typeface="Arial" pitchFamily="34" charset="0"/>
                <a:ea typeface="Arial" pitchFamily="34" charset="-122"/>
                <a:cs typeface="Arial" pitchFamily="34" charset="-120"/>
              </a:rPr>
              <a:t>Then somebody has to type all of it out again, by hand, in your design system.</a:t>
            </a:r>
            <a:endParaRPr lang="en-US" sz="1450" dirty="0"/>
          </a:p>
        </p:txBody>
      </p:sp>
      <p:pic>
        <p:nvPicPr>
          <p:cNvPr id="6" name="imgA" descr="/home/claude/build/img/whiteboard.png">    </p:cNvPr>
          <p:cNvPicPr>
            <a:picLocks noChangeAspect="1"/>
          </p:cNvPicPr>
          <p:nvPr/>
        </p:nvPicPr>
        <p:blipFill>
          <a:blip r:embed="rId2"/>
          <a:stretch>
            <a:fillRect/>
          </a:stretch>
        </p:blipFill>
        <p:spPr>
          <a:xfrm>
            <a:off x="685800" y="1965960"/>
            <a:ext cx="4754880" cy="3419856"/>
          </a:xfrm>
          <a:prstGeom prst="rect">
            <a:avLst/>
          </a:prstGeom>
        </p:spPr>
      </p:pic>
      <p:pic>
        <p:nvPicPr>
          <p:cNvPr id="7" name="imgB" descr="/home/claude/build/img/devnight.png">    </p:cNvPr>
          <p:cNvPicPr>
            <a:picLocks noChangeAspect="1"/>
          </p:cNvPicPr>
          <p:nvPr/>
        </p:nvPicPr>
        <p:blipFill>
          <a:blip r:embed="rId3"/>
          <a:stretch>
            <a:fillRect/>
          </a:stretch>
        </p:blipFill>
        <p:spPr>
          <a:xfrm>
            <a:off x="6748272" y="1965960"/>
            <a:ext cx="4754880" cy="3419856"/>
          </a:xfrm>
          <a:prstGeom prst="rect">
            <a:avLst/>
          </a:prstGeom>
        </p:spPr>
      </p:pic>
      <p:sp>
        <p:nvSpPr>
          <p:cNvPr id="8" name="arw"/>
          <p:cNvSpPr/>
          <p:nvPr/>
        </p:nvSpPr>
        <p:spPr>
          <a:xfrm>
            <a:off x="5833872" y="3438144"/>
            <a:ext cx="512064" cy="512064"/>
          </a:xfrm>
          <a:prstGeom prst="ellipse">
            <a:avLst/>
          </a:prstGeom>
          <a:solidFill>
            <a:srgbClr val="FF7A18">
              <a:alpha val="16000"/>
            </a:srgbClr>
          </a:solidFill>
          <a:ln w="15875">
            <a:solidFill>
              <a:srgbClr val="FF7A18"/>
            </a:solidFill>
            <a:prstDash val="solid"/>
          </a:ln>
        </p:spPr>
      </p:sp>
      <p:pic>
        <p:nvPicPr>
          <p:cNvPr id="9" name="arw_i" descr="/home/claude/build/img/ic_arrowright_em.png">    </p:cNvPr>
          <p:cNvPicPr>
            <a:picLocks noChangeAspect="1"/>
          </p:cNvPicPr>
          <p:nvPr/>
        </p:nvPicPr>
        <p:blipFill>
          <a:blip r:embed="rId4"/>
          <a:stretch>
            <a:fillRect/>
          </a:stretch>
        </p:blipFill>
        <p:spPr>
          <a:xfrm>
            <a:off x="5967009" y="3571281"/>
            <a:ext cx="245791" cy="245791"/>
          </a:xfrm>
          <a:prstGeom prst="rect">
            <a:avLst/>
          </a:prstGeom>
        </p:spPr>
      </p:pic>
      <p:sp>
        <p:nvSpPr>
          <p:cNvPr id="10" name="capA"/>
          <p:cNvSpPr txBox="1"/>
          <p:nvPr/>
        </p:nvSpPr>
        <p:spPr>
          <a:xfrm>
            <a:off x="685800" y="5532120"/>
            <a:ext cx="4754880" cy="685800"/>
          </a:xfrm>
          <a:prstGeom prst="rect">
            <a:avLst/>
          </a:prstGeom>
          <a:noFill/>
          <a:ln/>
        </p:spPr>
        <p:txBody>
          <a:bodyPr wrap="square" lIns="0" tIns="0" rIns="0" bIns="0" rtlCol="0" anchor="t"/>
          <a:lstStyle/>
          <a:p>
            <a:pPr indent="0" marL="0">
              <a:spcBef>
                <a:spcPts val="400"/>
              </a:spcBef>
              <a:buNone/>
            </a:pPr>
            <a:r>
              <a:rPr lang="en-US" sz="1200" b="1" spc="200" kern="0" dirty="0">
                <a:solidFill>
                  <a:srgbClr val="FF7A18"/>
                </a:solidFill>
                <a:latin typeface="Arial" pitchFamily="34" charset="0"/>
                <a:ea typeface="Arial" pitchFamily="34" charset="-122"/>
                <a:cs typeface="Arial" pitchFamily="34" charset="-120"/>
              </a:rPr>
              <a:t>THE SOURCE OF TRUTH</a:t>
            </a:r>
            <a:endParaRPr lang="en-US" sz="1200" dirty="0"/>
          </a:p>
          <a:p>
            <a:pPr indent="0" marL="0">
              <a:spcBef>
                <a:spcPts val="400"/>
              </a:spcBef>
              <a:buNone/>
            </a:pPr>
            <a:r>
              <a:rPr lang="en-US" sz="1250" dirty="0">
                <a:solidFill>
                  <a:srgbClr val="8A94AB"/>
                </a:solidFill>
                <a:latin typeface="Arial" pitchFamily="34" charset="0"/>
                <a:ea typeface="Arial" pitchFamily="34" charset="-122"/>
                <a:cs typeface="Arial" pitchFamily="34" charset="-120"/>
              </a:rPr>
              <a:t>Complete, agreed, signed off in the room.</a:t>
            </a:r>
            <a:endParaRPr lang="en-US" sz="1200" dirty="0"/>
          </a:p>
        </p:txBody>
      </p:sp>
      <p:sp>
        <p:nvSpPr>
          <p:cNvPr id="11" name="capB"/>
          <p:cNvSpPr txBox="1"/>
          <p:nvPr/>
        </p:nvSpPr>
        <p:spPr>
          <a:xfrm>
            <a:off x="6748272" y="5532120"/>
            <a:ext cx="4754880" cy="685800"/>
          </a:xfrm>
          <a:prstGeom prst="rect">
            <a:avLst/>
          </a:prstGeom>
          <a:noFill/>
          <a:ln/>
        </p:spPr>
        <p:txBody>
          <a:bodyPr wrap="square" lIns="0" tIns="0" rIns="0" bIns="0" rtlCol="0" anchor="t"/>
          <a:lstStyle/>
          <a:p>
            <a:pPr indent="0" marL="0">
              <a:spcBef>
                <a:spcPts val="400"/>
              </a:spcBef>
              <a:buNone/>
            </a:pPr>
            <a:r>
              <a:rPr lang="en-US" sz="1200" b="1" spc="200" kern="0" dirty="0">
                <a:solidFill>
                  <a:srgbClr val="FF3D57"/>
                </a:solidFill>
                <a:latin typeface="Arial" pitchFamily="34" charset="0"/>
                <a:ea typeface="Arial" pitchFamily="34" charset="-122"/>
                <a:cs typeface="Arial" pitchFamily="34" charset="-120"/>
              </a:rPr>
              <a:t>THE BOTTLENECK</a:t>
            </a:r>
            <a:endParaRPr lang="en-US" sz="1200" dirty="0"/>
          </a:p>
          <a:p>
            <a:pPr indent="0" marL="0">
              <a:spcBef>
                <a:spcPts val="400"/>
              </a:spcBef>
              <a:buNone/>
            </a:pPr>
            <a:r>
              <a:rPr lang="en-US" sz="1250" dirty="0">
                <a:solidFill>
                  <a:srgbClr val="8A94AB"/>
                </a:solidFill>
                <a:latin typeface="Arial" pitchFamily="34" charset="0"/>
                <a:ea typeface="Arial" pitchFamily="34" charset="-122"/>
                <a:cs typeface="Arial" pitchFamily="34" charset="-120"/>
              </a:rPr>
              <a:t>Days of retyping before anyone can click it.</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par>
                                <p:cTn id="10" presetID="10" presetClass="entr" presetSubtype="0" fill="hold" grpId="0" nodeType="withEffect">
                                  <p:stCondLst>
                                    <p:cond delay="42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childTnLst>
                                </p:cTn>
                              </p:par>
                            </p:childTnLst>
                          </p:cTn>
                        </p:par>
                      </p:childTnLst>
                    </p:cTn>
                  </p:par>
                  <p:par>
                    <p:cTn id="22" fill="hold">
                      <p:stCondLst>
                        <p:cond delay="indefinite"/>
                      </p:stCondLst>
                      <p:childTnLst>
                        <p:par>
                          <p:cTn id="23"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89"/>
                                        <p:tgtEl>
                                          <p:spTgt spid="6"/>
                                        </p:tgtEl>
                                      </p:cBhvr>
                                    </p:animEffect>
                                    <p:anim calcmode="lin" valueType="num">
                                      <p:cBhvr additive="base">
                                        <p:cTn id="18" dur="700" fill="hold"/>
                                        <p:tgtEl>
                                          <p:spTgt spid="6"/>
                                        </p:tgtEl>
                                        <p:attrNameLst>
                                          <p:attrName>ppt_x</p:attrName>
                                        </p:attrNameLst>
                                      </p:cBhvr>
                                      <p:tavLst>
                                        <p:tav tm="0">
                                          <p:val>
                                            <p:strVal val="0-#ppt_w/2"/>
                                          </p:val>
                                        </p:tav>
                                        <p:tav tm="100000">
                                          <p:val>
                                            <p:strVal val="#ppt_x"/>
                                          </p:val>
                                        </p:tav>
                                      </p:tavLst>
                                    </p:anim>
                                  </p:childTnLst>
                                </p:cTn>
                              </p:par>
                              <p:par>
                                <p:cTn id="19" presetID="10" presetClass="entr" presetSubtype="0" fill="hold" grpId="0" nodeType="withEffect">
                                  <p:stCondLst>
                                    <p:cond delay="4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50"/>
                                        <p:tgtEl>
                                          <p:spTgt spid="8"/>
                                        </p:tgtEl>
                                      </p:cBhvr>
                                    </p:animEffect>
                                    <p:animScale>
                                      <p:cBhvr>
                                        <p:cTn id="27" dur="450" fill="hold"/>
                                        <p:tgtEl>
                                          <p:spTgt spid="8"/>
                                        </p:tgtEl>
                                      </p:cBhvr>
                                      <p:from x="62000" y="62000"/>
                                      <p:to x="100000" y="100000"/>
                                    </p:animScale>
                                  </p:childTnLst>
                                </p:cTn>
                              </p:par>
                              <p:par>
                                <p:cTn id="28" presetID="2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50"/>
                                        <p:tgtEl>
                                          <p:spTgt spid="9"/>
                                        </p:tgtEl>
                                      </p:cBhvr>
                                    </p:animEffect>
                                    <p:animScale>
                                      <p:cBhvr>
                                        <p:cTn id="31" dur="450" fill="hold"/>
                                        <p:tgtEl>
                                          <p:spTgt spid="9"/>
                                        </p:tgtEl>
                                      </p:cBhvr>
                                      <p:from x="62000" y="62000"/>
                                      <p:to x="100000" y="100000"/>
                                    </p:animScale>
                                  </p:childTnLst>
                                </p:cTn>
                              </p:par>
                            </p:childTnLst>
                          </p:cTn>
                        </p:par>
                      </p:childTnLst>
                    </p:cTn>
                  </p:par>
                  <p:par>
                    <p:cTn id="41" fill="hold">
                      <p:stCondLst>
                        <p:cond delay="indefinite"/>
                      </p:stCondLst>
                      <p:childTnLst>
                        <p:par>
                          <p:cTn id="42"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489"/>
                                        <p:tgtEl>
                                          <p:spTgt spid="7"/>
                                        </p:tgtEl>
                                      </p:cBhvr>
                                    </p:animEffect>
                                    <p:anim calcmode="lin" valueType="num">
                                      <p:cBhvr additive="base">
                                        <p:cTn id="37" dur="700" fill="hold"/>
                                        <p:tgtEl>
                                          <p:spTgt spid="7"/>
                                        </p:tgtEl>
                                        <p:attrNameLst>
                                          <p:attrName>ppt_x</p:attrName>
                                        </p:attrNameLst>
                                      </p:cBhvr>
                                      <p:tavLst>
                                        <p:tav tm="0">
                                          <p:val>
                                            <p:strVal val="1+#ppt_w/2"/>
                                          </p:val>
                                        </p:tav>
                                        <p:tav tm="100000">
                                          <p:val>
                                            <p:strVal val="#ppt_x"/>
                                          </p:val>
                                        </p:tav>
                                      </p:tavLst>
                                    </p:anim>
                                  </p:childTnLst>
                                </p:cTn>
                              </p:par>
                              <p:par>
                                <p:cTn id="38" presetID="10" presetClass="entr" presetSubtype="0" fill="hold" grpId="0" nodeType="withEffect">
                                  <p:stCondLst>
                                    <p:cond delay="4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EXISTING, FLAWED SOLUTION</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100" b="1" dirty="0">
                <a:solidFill>
                  <a:srgbClr val="E8ECF5"/>
                </a:solidFill>
                <a:latin typeface="Arial" pitchFamily="34" charset="0"/>
                <a:ea typeface="Arial" pitchFamily="34" charset="-122"/>
                <a:cs typeface="Arial" pitchFamily="34" charset="-120"/>
              </a:rPr>
              <a:t>“Can’t I just photograph it and ask a chatbot?”</a:t>
            </a:r>
            <a:endParaRPr lang="en-US" sz="3100" dirty="0"/>
          </a:p>
        </p:txBody>
      </p:sp>
      <p:sp>
        <p:nvSpPr>
          <p:cNvPr id="5" name="sub"/>
          <p:cNvSpPr txBox="1"/>
          <p:nvPr/>
        </p:nvSpPr>
        <p:spPr>
          <a:xfrm>
            <a:off x="685800" y="1444752"/>
            <a:ext cx="10515600" cy="310896"/>
          </a:xfrm>
          <a:prstGeom prst="rect">
            <a:avLst/>
          </a:prstGeom>
          <a:noFill/>
          <a:ln/>
        </p:spPr>
        <p:txBody>
          <a:bodyPr wrap="square" lIns="0" tIns="0" rIns="0" bIns="0" rtlCol="0" anchor="ctr"/>
          <a:lstStyle/>
          <a:p>
            <a:pPr algn="l" indent="0" marL="0">
              <a:buNone/>
            </a:pPr>
            <a:r>
              <a:rPr lang="en-US" sz="1450" dirty="0">
                <a:solidFill>
                  <a:srgbClr val="8A94AB"/>
                </a:solidFill>
                <a:latin typeface="Arial" pitchFamily="34" charset="0"/>
                <a:ea typeface="Arial" pitchFamily="34" charset="-122"/>
                <a:cs typeface="Arial" pitchFamily="34" charset="-120"/>
              </a:rPr>
              <a:t>You can. Your security team, your design system and the venue Wi-Fi all disagree.</a:t>
            </a:r>
            <a:endParaRPr lang="en-US" sz="1450" dirty="0"/>
          </a:p>
        </p:txBody>
      </p:sp>
      <p:pic>
        <p:nvPicPr>
          <p:cNvPr id="6" name="img" descr="/home/claude/build/img/cloudrisk.png">    </p:cNvPr>
          <p:cNvPicPr>
            <a:picLocks noChangeAspect="1"/>
          </p:cNvPicPr>
          <p:nvPr/>
        </p:nvPicPr>
        <p:blipFill>
          <a:blip r:embed="rId2"/>
          <a:stretch>
            <a:fillRect/>
          </a:stretch>
        </p:blipFill>
        <p:spPr>
          <a:xfrm>
            <a:off x="6035040" y="2011680"/>
            <a:ext cx="5532120" cy="3255264"/>
          </a:xfrm>
          <a:prstGeom prst="rect">
            <a:avLst/>
          </a:prstGeom>
        </p:spPr>
      </p:pic>
      <p:sp>
        <p:nvSpPr>
          <p:cNvPr id="7" name="r0"/>
          <p:cNvSpPr/>
          <p:nvPr/>
        </p:nvSpPr>
        <p:spPr>
          <a:xfrm>
            <a:off x="685800" y="2148840"/>
            <a:ext cx="566928" cy="566928"/>
          </a:xfrm>
          <a:prstGeom prst="ellipse">
            <a:avLst/>
          </a:prstGeom>
          <a:solidFill>
            <a:srgbClr val="FF3D57">
              <a:alpha val="16000"/>
            </a:srgbClr>
          </a:solidFill>
          <a:ln w="15875">
            <a:solidFill>
              <a:srgbClr val="FF3D57"/>
            </a:solidFill>
            <a:prstDash val="solid"/>
          </a:ln>
        </p:spPr>
      </p:sp>
      <p:pic>
        <p:nvPicPr>
          <p:cNvPr id="8" name="r0_i" descr="/home/claude/build/img/ic_shield_dg.png">    </p:cNvPr>
          <p:cNvPicPr>
            <a:picLocks noChangeAspect="1"/>
          </p:cNvPicPr>
          <p:nvPr/>
        </p:nvPicPr>
        <p:blipFill>
          <a:blip r:embed="rId3"/>
          <a:stretch>
            <a:fillRect/>
          </a:stretch>
        </p:blipFill>
        <p:spPr>
          <a:xfrm>
            <a:off x="833201" y="2296241"/>
            <a:ext cx="272125" cy="272125"/>
          </a:xfrm>
          <a:prstGeom prst="rect">
            <a:avLst/>
          </a:prstGeom>
        </p:spPr>
      </p:pic>
      <p:sp>
        <p:nvSpPr>
          <p:cNvPr id="9" name="r0_t"/>
          <p:cNvSpPr txBox="1"/>
          <p:nvPr/>
        </p:nvSpPr>
        <p:spPr>
          <a:xfrm>
            <a:off x="1463040" y="2093976"/>
            <a:ext cx="4892040" cy="100584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Your unreleased design leaves the building</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Proprietary UI posted to a public API is an incident report, not a workflow.</a:t>
            </a:r>
            <a:endParaRPr lang="en-US" sz="1550" dirty="0"/>
          </a:p>
        </p:txBody>
      </p:sp>
      <p:sp>
        <p:nvSpPr>
          <p:cNvPr id="10" name="r1"/>
          <p:cNvSpPr/>
          <p:nvPr/>
        </p:nvSpPr>
        <p:spPr>
          <a:xfrm>
            <a:off x="685800" y="3474720"/>
            <a:ext cx="566928" cy="566928"/>
          </a:xfrm>
          <a:prstGeom prst="ellipse">
            <a:avLst/>
          </a:prstGeom>
          <a:solidFill>
            <a:srgbClr val="FF7A18">
              <a:alpha val="16000"/>
            </a:srgbClr>
          </a:solidFill>
          <a:ln w="15875">
            <a:solidFill>
              <a:srgbClr val="FF7A18"/>
            </a:solidFill>
            <a:prstDash val="solid"/>
          </a:ln>
        </p:spPr>
      </p:sp>
      <p:pic>
        <p:nvPicPr>
          <p:cNvPr id="11" name="r1_i" descr="/home/claude/build/img/ic_code_em.png">    </p:cNvPr>
          <p:cNvPicPr>
            <a:picLocks noChangeAspect="1"/>
          </p:cNvPicPr>
          <p:nvPr/>
        </p:nvPicPr>
        <p:blipFill>
          <a:blip r:embed="rId4"/>
          <a:stretch>
            <a:fillRect/>
          </a:stretch>
        </p:blipFill>
        <p:spPr>
          <a:xfrm>
            <a:off x="833201" y="3622121"/>
            <a:ext cx="272125" cy="272125"/>
          </a:xfrm>
          <a:prstGeom prst="rect">
            <a:avLst/>
          </a:prstGeom>
        </p:spPr>
      </p:pic>
      <p:sp>
        <p:nvSpPr>
          <p:cNvPr id="12" name="r1_t"/>
          <p:cNvSpPr txBox="1"/>
          <p:nvPr/>
        </p:nvSpPr>
        <p:spPr>
          <a:xfrm>
            <a:off x="1463040" y="3419856"/>
            <a:ext cx="4892040" cy="100584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Generic code, not your code</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A general model emits div soup. It has never seen your &lt;Button&gt; or your &lt;Card&gt;.</a:t>
            </a:r>
            <a:endParaRPr lang="en-US" sz="1550" dirty="0"/>
          </a:p>
        </p:txBody>
      </p:sp>
      <p:sp>
        <p:nvSpPr>
          <p:cNvPr id="13" name="r2"/>
          <p:cNvSpPr/>
          <p:nvPr/>
        </p:nvSpPr>
        <p:spPr>
          <a:xfrm>
            <a:off x="685800" y="4800600"/>
            <a:ext cx="566928" cy="566928"/>
          </a:xfrm>
          <a:prstGeom prst="ellipse">
            <a:avLst/>
          </a:prstGeom>
          <a:solidFill>
            <a:srgbClr val="22D3EE">
              <a:alpha val="16000"/>
            </a:srgbClr>
          </a:solidFill>
          <a:ln w="15875">
            <a:solidFill>
              <a:srgbClr val="22D3EE"/>
            </a:solidFill>
            <a:prstDash val="solid"/>
          </a:ln>
        </p:spPr>
      </p:sp>
      <p:pic>
        <p:nvPicPr>
          <p:cNvPr id="14" name="r2_i" descr="/home/claude/build/img/ic_wifioff_si.png">    </p:cNvPr>
          <p:cNvPicPr>
            <a:picLocks noChangeAspect="1"/>
          </p:cNvPicPr>
          <p:nvPr/>
        </p:nvPicPr>
        <p:blipFill>
          <a:blip r:embed="rId5"/>
          <a:stretch>
            <a:fillRect/>
          </a:stretch>
        </p:blipFill>
        <p:spPr>
          <a:xfrm>
            <a:off x="833201" y="4948001"/>
            <a:ext cx="272125" cy="272125"/>
          </a:xfrm>
          <a:prstGeom prst="rect">
            <a:avLst/>
          </a:prstGeom>
        </p:spPr>
      </p:pic>
      <p:sp>
        <p:nvSpPr>
          <p:cNvPr id="15" name="r2_t"/>
          <p:cNvSpPr txBox="1"/>
          <p:nvPr/>
        </p:nvSpPr>
        <p:spPr>
          <a:xfrm>
            <a:off x="1463040" y="4745736"/>
            <a:ext cx="4892040" cy="100584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No network, no output</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Cloud tools die exactly where you need them: locked buildings and hackathon Wi-Fi.</a:t>
            </a:r>
            <a:endParaRPr lang="en-US" sz="1550" dirty="0"/>
          </a:p>
        </p:txBody>
      </p:sp>
      <p:sp>
        <p:nvSpPr>
          <p:cNvPr id="16" name="note"/>
          <p:cNvSpPr txBox="1"/>
          <p:nvPr/>
        </p:nvSpPr>
        <p:spPr>
          <a:xfrm>
            <a:off x="685800" y="6053328"/>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Enterprise design data cannot leave the device. That is the whole ballgame.</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par>
                                <p:cTn id="10" presetID="10" presetClass="entr" presetSubtype="0" fill="hold" grpId="0" nodeType="withEffect">
                                  <p:stCondLst>
                                    <p:cond delay="42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childTnLst>
                                </p:cTn>
                              </p:par>
                            </p:childTnLst>
                          </p:cTn>
                        </p:par>
                      </p:childTnLst>
                    </p:cTn>
                  </p:par>
                  <p:par>
                    <p:cTn id="19" fill="hold">
                      <p:stCondLst>
                        <p:cond delay="indefinite"/>
                      </p:stCondLst>
                      <p:childTnLst>
                        <p:par>
                          <p:cTn id="20"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00"/>
                                        <p:tgtEl>
                                          <p:spTgt spid="6"/>
                                        </p:tgtEl>
                                      </p:cBhvr>
                                    </p:animEffect>
                                    <p:animScale>
                                      <p:cBhvr>
                                        <p:cTn id="18" dur="700" fill="hold"/>
                                        <p:tgtEl>
                                          <p:spTgt spid="6"/>
                                        </p:tgtEl>
                                      </p:cBhvr>
                                      <p:from x="62000" y="62000"/>
                                      <p:to x="100000" y="100000"/>
                                    </p:animScale>
                                  </p:childTnLst>
                                </p:cTn>
                              </p:par>
                            </p:childTnLst>
                          </p:cTn>
                        </p:par>
                      </p:childTnLst>
                    </p:cTn>
                  </p:par>
                  <p:par>
                    <p:cTn id="33" fill="hold">
                      <p:stCondLst>
                        <p:cond delay="indefinite"/>
                      </p:stCondLst>
                      <p:childTnLst>
                        <p:par>
                          <p:cTn id="34"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00"/>
                                        <p:tgtEl>
                                          <p:spTgt spid="7"/>
                                        </p:tgtEl>
                                      </p:cBhvr>
                                    </p:animEffect>
                                    <p:animScale>
                                      <p:cBhvr>
                                        <p:cTn id="24" dur="400" fill="hold"/>
                                        <p:tgtEl>
                                          <p:spTgt spid="7"/>
                                        </p:tgtEl>
                                      </p:cBhvr>
                                      <p:from x="62000" y="62000"/>
                                      <p:to x="100000" y="100000"/>
                                    </p:animScale>
                                  </p:childTnLst>
                                </p:cTn>
                              </p:par>
                              <p:par>
                                <p:cTn id="25" presetID="2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00"/>
                                        <p:tgtEl>
                                          <p:spTgt spid="8"/>
                                        </p:tgtEl>
                                      </p:cBhvr>
                                    </p:animEffect>
                                    <p:animScale>
                                      <p:cBhvr>
                                        <p:cTn id="28" dur="400" fill="hold"/>
                                        <p:tgtEl>
                                          <p:spTgt spid="8"/>
                                        </p:tgtEl>
                                      </p:cBhvr>
                                      <p:from x="62000" y="62000"/>
                                      <p:to x="100000" y="100000"/>
                                    </p:animScale>
                                  </p:childTnLst>
                                </p:cTn>
                              </p:par>
                              <p:par>
                                <p:cTn id="29" presetID="2" presetClass="entr" presetSubtype="8" fill="hold" grpId="0" nodeType="withEffect">
                                  <p:stCondLst>
                                    <p:cond delay="12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350"/>
                                        <p:tgtEl>
                                          <p:spTgt spid="9"/>
                                        </p:tgtEl>
                                      </p:cBhvr>
                                    </p:animEffect>
                                    <p:anim calcmode="lin" valueType="num">
                                      <p:cBhvr additive="base">
                                        <p:cTn id="32" dur="500" fill="hold"/>
                                        <p:tgtEl>
                                          <p:spTgt spid="9"/>
                                        </p:tgtEl>
                                        <p:attrNameLst>
                                          <p:attrName>ppt_x</p:attrName>
                                        </p:attrNameLst>
                                      </p:cBhvr>
                                      <p:tavLst>
                                        <p:tav tm="0">
                                          <p:val>
                                            <p:strVal val="0-#ppt_w/2"/>
                                          </p:val>
                                        </p:tav>
                                        <p:tav tm="100000">
                                          <p:val>
                                            <p:strVal val="#ppt_x"/>
                                          </p:val>
                                        </p:tav>
                                      </p:tavLst>
                                    </p:anim>
                                  </p:childTnLst>
                                </p:cTn>
                              </p:par>
                            </p:childTnLst>
                          </p:cTn>
                        </p:par>
                      </p:childTnLst>
                    </p:cTn>
                  </p:par>
                  <p:par>
                    <p:cTn id="47" fill="hold">
                      <p:stCondLst>
                        <p:cond delay="indefinite"/>
                      </p:stCondLst>
                      <p:childTnLst>
                        <p:par>
                          <p:cTn id="48"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00"/>
                                        <p:tgtEl>
                                          <p:spTgt spid="10"/>
                                        </p:tgtEl>
                                      </p:cBhvr>
                                    </p:animEffect>
                                    <p:animScale>
                                      <p:cBhvr>
                                        <p:cTn id="38" dur="400" fill="hold"/>
                                        <p:tgtEl>
                                          <p:spTgt spid="10"/>
                                        </p:tgtEl>
                                      </p:cBhvr>
                                      <p:from x="62000" y="62000"/>
                                      <p:to x="100000" y="100000"/>
                                    </p:animScale>
                                  </p:childTnLst>
                                </p:cTn>
                              </p:par>
                              <p:par>
                                <p:cTn id="39" presetID="2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400"/>
                                        <p:tgtEl>
                                          <p:spTgt spid="11"/>
                                        </p:tgtEl>
                                      </p:cBhvr>
                                    </p:animEffect>
                                    <p:animScale>
                                      <p:cBhvr>
                                        <p:cTn id="42" dur="400" fill="hold"/>
                                        <p:tgtEl>
                                          <p:spTgt spid="11"/>
                                        </p:tgtEl>
                                      </p:cBhvr>
                                      <p:from x="62000" y="62000"/>
                                      <p:to x="100000" y="100000"/>
                                    </p:animScale>
                                  </p:childTnLst>
                                </p:cTn>
                              </p:par>
                              <p:par>
                                <p:cTn id="43" presetID="2" presetClass="entr" presetSubtype="8" fill="hold" grpId="0" nodeType="withEffect">
                                  <p:stCondLst>
                                    <p:cond delay="12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350"/>
                                        <p:tgtEl>
                                          <p:spTgt spid="12"/>
                                        </p:tgtEl>
                                      </p:cBhvr>
                                    </p:animEffect>
                                    <p:anim calcmode="lin" valueType="num">
                                      <p:cBhvr additive="base">
                                        <p:cTn id="46" dur="500" fill="hold"/>
                                        <p:tgtEl>
                                          <p:spTgt spid="12"/>
                                        </p:tgtEl>
                                        <p:attrNameLst>
                                          <p:attrName>ppt_x</p:attrName>
                                        </p:attrNameLst>
                                      </p:cBhvr>
                                      <p:tavLst>
                                        <p:tav tm="0">
                                          <p:val>
                                            <p:strVal val="0-#ppt_w/2"/>
                                          </p:val>
                                        </p:tav>
                                        <p:tav tm="100000">
                                          <p:val>
                                            <p:strVal val="#ppt_x"/>
                                          </p:val>
                                        </p:tav>
                                      </p:tavLst>
                                    </p:anim>
                                  </p:childTnLst>
                                </p:cTn>
                              </p:par>
                            </p:childTnLst>
                          </p:cTn>
                        </p:par>
                      </p:childTnLst>
                    </p:cTn>
                  </p:par>
                  <p:par>
                    <p:cTn id="61" fill="hold">
                      <p:stCondLst>
                        <p:cond delay="indefinite"/>
                      </p:stCondLst>
                      <p:childTnLst>
                        <p:par>
                          <p:cTn id="62" fill="hold">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p:tgtEl>
                                          <p:spTgt spid="13"/>
                                        </p:tgtEl>
                                      </p:cBhvr>
                                    </p:animEffect>
                                    <p:animScale>
                                      <p:cBhvr>
                                        <p:cTn id="52" dur="400" fill="hold"/>
                                        <p:tgtEl>
                                          <p:spTgt spid="13"/>
                                        </p:tgtEl>
                                      </p:cBhvr>
                                      <p:from x="62000" y="62000"/>
                                      <p:to x="100000" y="100000"/>
                                    </p:animScale>
                                  </p:childTnLst>
                                </p:cTn>
                              </p:par>
                              <p:par>
                                <p:cTn id="53" presetID="23" presetClass="entr" presetSubtype="1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00"/>
                                        <p:tgtEl>
                                          <p:spTgt spid="14"/>
                                        </p:tgtEl>
                                      </p:cBhvr>
                                    </p:animEffect>
                                    <p:animScale>
                                      <p:cBhvr>
                                        <p:cTn id="56" dur="400" fill="hold"/>
                                        <p:tgtEl>
                                          <p:spTgt spid="14"/>
                                        </p:tgtEl>
                                      </p:cBhvr>
                                      <p:from x="62000" y="62000"/>
                                      <p:to x="100000" y="100000"/>
                                    </p:animScale>
                                  </p:childTnLst>
                                </p:cTn>
                              </p:par>
                              <p:par>
                                <p:cTn id="57" presetID="2" presetClass="entr" presetSubtype="8" fill="hold" grpId="0" nodeType="withEffect">
                                  <p:stCondLst>
                                    <p:cond delay="12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50"/>
                                        <p:tgtEl>
                                          <p:spTgt spid="15"/>
                                        </p:tgtEl>
                                      </p:cBhvr>
                                    </p:animEffect>
                                    <p:anim calcmode="lin" valueType="num">
                                      <p:cBhvr additive="base">
                                        <p:cTn id="60" dur="500" fill="hold"/>
                                        <p:tgtEl>
                                          <p:spTgt spid="15"/>
                                        </p:tgtEl>
                                        <p:attrNameLst>
                                          <p:attrName>ppt_x</p:attrName>
                                        </p:attrNameLst>
                                      </p:cBhvr>
                                      <p:tavLst>
                                        <p:tav tm="0">
                                          <p:val>
                                            <p:strVal val="0-#ppt_w/2"/>
                                          </p:val>
                                        </p:tav>
                                        <p:tav tm="100000">
                                          <p:val>
                                            <p:strVal val="#ppt_x"/>
                                          </p:val>
                                        </p:tav>
                                      </p:tavLst>
                                    </p:anim>
                                  </p:childTnLst>
                                </p:cTn>
                              </p:par>
                            </p:childTnLst>
                          </p:cTn>
                        </p:par>
                      </p:childTnLst>
                    </p:cTn>
                  </p:par>
                  <p:par>
                    <p:cTn id="66" fill="hold">
                      <p:stCondLst>
                        <p:cond delay="indefinite"/>
                      </p:stCondLst>
                      <p:childTnLst>
                        <p:par>
                          <p:cTn id="67"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wipe(right)">
                                      <p:cBhvr>
                                        <p:cTn id="65" dur="7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build/img/bg_demo.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0" y="1783080"/>
            <a:ext cx="12191695" cy="310896"/>
          </a:xfrm>
          <a:prstGeom prst="rect">
            <a:avLst/>
          </a:prstGeom>
          <a:noFill/>
          <a:ln/>
        </p:spPr>
        <p:txBody>
          <a:bodyPr wrap="square" lIns="0" tIns="0" rIns="0" bIns="0" rtlCol="0" anchor="ctr"/>
          <a:lstStyle/>
          <a:p>
            <a:pPr algn="ctr" indent="0" marL="0">
              <a:buNone/>
            </a:pPr>
            <a:r>
              <a:rPr lang="en-US" sz="1300" b="1" spc="600" kern="0" dirty="0">
                <a:solidFill>
                  <a:srgbClr val="FF7A18"/>
                </a:solidFill>
                <a:latin typeface="Arial" pitchFamily="34" charset="0"/>
                <a:ea typeface="Arial" pitchFamily="34" charset="-122"/>
                <a:cs typeface="Arial" pitchFamily="34" charset="-120"/>
              </a:rPr>
              <a:t>THE SOLUTION</a:t>
            </a:r>
            <a:endParaRPr lang="en-US" sz="1300" dirty="0"/>
          </a:p>
        </p:txBody>
      </p:sp>
      <p:sp>
        <p:nvSpPr>
          <p:cNvPr id="4" name="big"/>
          <p:cNvSpPr txBox="1"/>
          <p:nvPr/>
        </p:nvSpPr>
        <p:spPr>
          <a:xfrm>
            <a:off x="0" y="2240280"/>
            <a:ext cx="12191695" cy="1737360"/>
          </a:xfrm>
          <a:prstGeom prst="rect">
            <a:avLst/>
          </a:prstGeom>
          <a:noFill/>
          <a:ln/>
        </p:spPr>
        <p:txBody>
          <a:bodyPr wrap="square" lIns="0" tIns="0" rIns="0" bIns="0" rtlCol="0" anchor="ctr"/>
          <a:lstStyle/>
          <a:p>
            <a:pPr algn="ctr" indent="0" marL="0">
              <a:buNone/>
            </a:pPr>
            <a:r>
              <a:rPr lang="en-US" sz="12800" b="1" spc="400" kern="0" dirty="0">
                <a:solidFill>
                  <a:srgbClr val="E8ECF5"/>
                </a:solidFill>
                <a:latin typeface="Arial" pitchFamily="34" charset="0"/>
                <a:ea typeface="Arial" pitchFamily="34" charset="-122"/>
                <a:cs typeface="Arial" pitchFamily="34" charset="-120"/>
              </a:rPr>
              <a:t>WATCH.</a:t>
            </a:r>
            <a:endParaRPr lang="en-US" sz="12800" dirty="0"/>
          </a:p>
        </p:txBody>
      </p:sp>
      <p:sp>
        <p:nvSpPr>
          <p:cNvPr id="5" name="sub"/>
          <p:cNvSpPr txBox="1"/>
          <p:nvPr/>
        </p:nvSpPr>
        <p:spPr>
          <a:xfrm>
            <a:off x="0" y="4114800"/>
            <a:ext cx="12191695" cy="411480"/>
          </a:xfrm>
          <a:prstGeom prst="rect">
            <a:avLst/>
          </a:prstGeom>
          <a:noFill/>
          <a:ln/>
        </p:spPr>
        <p:txBody>
          <a:bodyPr wrap="square" lIns="0" tIns="0" rIns="0" bIns="0" rtlCol="0" anchor="ctr"/>
          <a:lstStyle/>
          <a:p>
            <a:pPr algn="ctr" indent="0" marL="0">
              <a:buNone/>
            </a:pPr>
            <a:r>
              <a:rPr lang="en-US" sz="2100" dirty="0">
                <a:solidFill>
                  <a:srgbClr val="22D3EE"/>
                </a:solidFill>
                <a:latin typeface="Arial" pitchFamily="34" charset="0"/>
                <a:ea typeface="Arial" pitchFamily="34" charset="-122"/>
                <a:cs typeface="Arial" pitchFamily="34" charset="-120"/>
              </a:rPr>
              <a:t>Live. Offline. On the phone in my hand.</a:t>
            </a:r>
            <a:endParaRPr lang="en-US" sz="2100" dirty="0"/>
          </a:p>
        </p:txBody>
      </p:sp>
      <p:sp>
        <p:nvSpPr>
          <p:cNvPr id="6" name="p0"/>
          <p:cNvSpPr/>
          <p:nvPr/>
        </p:nvSpPr>
        <p:spPr>
          <a:xfrm>
            <a:off x="2258568" y="5029200"/>
            <a:ext cx="2377440" cy="566928"/>
          </a:xfrm>
          <a:prstGeom prst="roundRect">
            <a:avLst>
              <a:gd name="adj" fmla="val 80645"/>
            </a:avLst>
          </a:prstGeom>
          <a:solidFill>
            <a:srgbClr val="0A0E17">
              <a:alpha val="75000"/>
            </a:srgbClr>
          </a:solidFill>
          <a:ln w="15875">
            <a:solidFill>
              <a:srgbClr val="FF7A18"/>
            </a:solidFill>
            <a:prstDash val="solid"/>
          </a:ln>
        </p:spPr>
      </p:sp>
      <p:sp>
        <p:nvSpPr>
          <p:cNvPr id="7" name="p0t"/>
          <p:cNvSpPr txBox="1"/>
          <p:nvPr/>
        </p:nvSpPr>
        <p:spPr>
          <a:xfrm>
            <a:off x="2258568" y="5029200"/>
            <a:ext cx="2377440" cy="566928"/>
          </a:xfrm>
          <a:prstGeom prst="rect">
            <a:avLst/>
          </a:prstGeom>
          <a:noFill/>
          <a:ln/>
        </p:spPr>
        <p:txBody>
          <a:bodyPr wrap="square" lIns="0" tIns="0" rIns="0" bIns="0" rtlCol="0" anchor="ctr"/>
          <a:lstStyle/>
          <a:p>
            <a:pPr algn="ctr" indent="0" marL="0">
              <a:buNone/>
            </a:pPr>
            <a:r>
              <a:rPr lang="en-US" sz="1250" b="1" spc="200" kern="0" dirty="0">
                <a:solidFill>
                  <a:srgbClr val="FFB347"/>
                </a:solidFill>
                <a:latin typeface="Arial" pitchFamily="34" charset="0"/>
                <a:ea typeface="Arial" pitchFamily="34" charset="-122"/>
                <a:cs typeface="Arial" pitchFamily="34" charset="-120"/>
              </a:rPr>
              <a:t>NO INTERNET</a:t>
            </a:r>
            <a:endParaRPr lang="en-US" sz="1250" dirty="0"/>
          </a:p>
        </p:txBody>
      </p:sp>
      <p:sp>
        <p:nvSpPr>
          <p:cNvPr id="8" name="p1"/>
          <p:cNvSpPr/>
          <p:nvPr/>
        </p:nvSpPr>
        <p:spPr>
          <a:xfrm>
            <a:off x="4910328" y="5029200"/>
            <a:ext cx="2377440" cy="566928"/>
          </a:xfrm>
          <a:prstGeom prst="roundRect">
            <a:avLst>
              <a:gd name="adj" fmla="val 80645"/>
            </a:avLst>
          </a:prstGeom>
          <a:solidFill>
            <a:srgbClr val="0A0E17">
              <a:alpha val="75000"/>
            </a:srgbClr>
          </a:solidFill>
          <a:ln w="15875">
            <a:solidFill>
              <a:srgbClr val="FF7A18"/>
            </a:solidFill>
            <a:prstDash val="solid"/>
          </a:ln>
        </p:spPr>
      </p:sp>
      <p:sp>
        <p:nvSpPr>
          <p:cNvPr id="9" name="p1t"/>
          <p:cNvSpPr txBox="1"/>
          <p:nvPr/>
        </p:nvSpPr>
        <p:spPr>
          <a:xfrm>
            <a:off x="4910328" y="5029200"/>
            <a:ext cx="2377440" cy="566928"/>
          </a:xfrm>
          <a:prstGeom prst="rect">
            <a:avLst/>
          </a:prstGeom>
          <a:noFill/>
          <a:ln/>
        </p:spPr>
        <p:txBody>
          <a:bodyPr wrap="square" lIns="0" tIns="0" rIns="0" bIns="0" rtlCol="0" anchor="ctr"/>
          <a:lstStyle/>
          <a:p>
            <a:pPr algn="ctr" indent="0" marL="0">
              <a:buNone/>
            </a:pPr>
            <a:r>
              <a:rPr lang="en-US" sz="1250" b="1" spc="200" kern="0" dirty="0">
                <a:solidFill>
                  <a:srgbClr val="FFB347"/>
                </a:solidFill>
                <a:latin typeface="Arial" pitchFamily="34" charset="0"/>
                <a:ea typeface="Arial" pitchFamily="34" charset="-122"/>
                <a:cs typeface="Arial" pitchFamily="34" charset="-120"/>
              </a:rPr>
              <a:t>NO CLOUD API</a:t>
            </a:r>
            <a:endParaRPr lang="en-US" sz="1250" dirty="0"/>
          </a:p>
        </p:txBody>
      </p:sp>
      <p:sp>
        <p:nvSpPr>
          <p:cNvPr id="10" name="p2"/>
          <p:cNvSpPr/>
          <p:nvPr/>
        </p:nvSpPr>
        <p:spPr>
          <a:xfrm>
            <a:off x="7562088" y="5029200"/>
            <a:ext cx="2377440" cy="566928"/>
          </a:xfrm>
          <a:prstGeom prst="roundRect">
            <a:avLst>
              <a:gd name="adj" fmla="val 80645"/>
            </a:avLst>
          </a:prstGeom>
          <a:solidFill>
            <a:srgbClr val="0A0E17">
              <a:alpha val="75000"/>
            </a:srgbClr>
          </a:solidFill>
          <a:ln w="15875">
            <a:solidFill>
              <a:srgbClr val="FF7A18"/>
            </a:solidFill>
            <a:prstDash val="solid"/>
          </a:ln>
        </p:spPr>
      </p:sp>
      <p:sp>
        <p:nvSpPr>
          <p:cNvPr id="11" name="p2t"/>
          <p:cNvSpPr txBox="1"/>
          <p:nvPr/>
        </p:nvSpPr>
        <p:spPr>
          <a:xfrm>
            <a:off x="7562088" y="5029200"/>
            <a:ext cx="2377440" cy="566928"/>
          </a:xfrm>
          <a:prstGeom prst="rect">
            <a:avLst/>
          </a:prstGeom>
          <a:noFill/>
          <a:ln/>
        </p:spPr>
        <p:txBody>
          <a:bodyPr wrap="square" lIns="0" tIns="0" rIns="0" bIns="0" rtlCol="0" anchor="ctr"/>
          <a:lstStyle/>
          <a:p>
            <a:pPr algn="ctr" indent="0" marL="0">
              <a:buNone/>
            </a:pPr>
            <a:r>
              <a:rPr lang="en-US" sz="1250" b="1" spc="200" kern="0" dirty="0">
                <a:solidFill>
                  <a:srgbClr val="FFB347"/>
                </a:solidFill>
                <a:latin typeface="Arial" pitchFamily="34" charset="0"/>
                <a:ea typeface="Arial" pitchFamily="34" charset="-122"/>
                <a:cs typeface="Arial" pitchFamily="34" charset="-120"/>
              </a:rPr>
              <a:t>2.5 SECONDS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2" fill="hold">
                      <p:stCondLst>
                        <p:cond delay="indefinite"/>
                      </p:stCondLst>
                      <p:childTnLst>
                        <p:par>
                          <p:cTn id="13" fill="hold">
                            <p:stCondLst>
                              <p:cond delay="0"/>
                            </p:stCondLst>
                            <p:childTnLst>
                              <p:par>
                                <p:cTn id="8" presetID="23" presetClass="entr" presetSubtype="16"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800"/>
                                        <p:tgtEl>
                                          <p:spTgt spid="4"/>
                                        </p:tgtEl>
                                      </p:cBhvr>
                                    </p:animEffect>
                                    <p:animScale>
                                      <p:cBhvr>
                                        <p:cTn id="11" dur="800" fill="hold"/>
                                        <p:tgtEl>
                                          <p:spTgt spid="4"/>
                                        </p:tgtEl>
                                      </p:cBhvr>
                                      <p:from x="62000" y="62000"/>
                                      <p:to x="100000" y="100000"/>
                                    </p:animScale>
                                  </p:childTnLst>
                                </p:cTn>
                              </p:par>
                            </p:childTnLst>
                          </p:cTn>
                        </p:par>
                      </p:childTnLst>
                    </p:cTn>
                  </p:par>
                  <p:par>
                    <p:cTn id="18" fill="hold">
                      <p:stCondLst>
                        <p:cond delay="indefinite"/>
                      </p:stCondLst>
                      <p:childTnLst>
                        <p:par>
                          <p:cTn id="19" fill="hold">
                            <p:stCondLst>
                              <p:cond delay="0"/>
                            </p:stCondLst>
                            <p:childTnLst>
                              <p:par>
                                <p:cTn id="14" presetID="4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anim calcmode="lin" valueType="num">
                                      <p:cBhvr additive="base">
                                        <p:cTn id="17" dur="600" fill="hold"/>
                                        <p:tgtEl>
                                          <p:spTgt spid="5"/>
                                        </p:tgtEl>
                                        <p:attrNameLst>
                                          <p:attrName>ppt_y</p:attrName>
                                        </p:attrNameLst>
                                      </p:cBhvr>
                                      <p:tavLst>
                                        <p:tav tm="0">
                                          <p:val>
                                            <p:strVal val="#ppt_y+0.04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animScale>
                                      <p:cBhvr>
                                        <p:cTn id="23" dur="400" fill="hold"/>
                                        <p:tgtEl>
                                          <p:spTgt spid="6"/>
                                        </p:tgtEl>
                                      </p:cBhvr>
                                      <p:from x="62000" y="62000"/>
                                      <p:to x="100000" y="100000"/>
                                    </p:animScale>
                                  </p:childTnLst>
                                </p:cTn>
                              </p:par>
                              <p:par>
                                <p:cTn id="24" presetID="10" presetClass="entr" presetSubtype="0" fill="hold" grpId="0" nodeType="withEffect">
                                  <p:stCondLst>
                                    <p:cond delay="6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400"/>
                                        <p:tgtEl>
                                          <p:spTgt spid="7"/>
                                        </p:tgtEl>
                                      </p:cBhvr>
                                    </p:animEffect>
                                  </p:childTnLst>
                                </p:cTn>
                              </p:par>
                              <p:par>
                                <p:cTn id="27" presetID="23" presetClass="entr" presetSubtype="16" fill="hold" grpId="0" nodeType="withEffect">
                                  <p:stCondLst>
                                    <p:cond delay="22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animScale>
                                      <p:cBhvr>
                                        <p:cTn id="30" dur="400" fill="hold"/>
                                        <p:tgtEl>
                                          <p:spTgt spid="8"/>
                                        </p:tgtEl>
                                      </p:cBhvr>
                                      <p:from x="62000" y="62000"/>
                                      <p:to x="100000" y="100000"/>
                                    </p:animScale>
                                  </p:childTnLst>
                                </p:cTn>
                              </p:par>
                              <p:par>
                                <p:cTn id="31" presetID="10" presetClass="entr" presetSubtype="0" fill="hold" grpId="0" nodeType="withEffect">
                                  <p:stCondLst>
                                    <p:cond delay="28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00"/>
                                        <p:tgtEl>
                                          <p:spTgt spid="9"/>
                                        </p:tgtEl>
                                      </p:cBhvr>
                                    </p:animEffect>
                                  </p:childTnLst>
                                </p:cTn>
                              </p:par>
                              <p:par>
                                <p:cTn id="34" presetID="23" presetClass="entr" presetSubtype="16" fill="hold" grpId="0" nodeType="withEffect">
                                  <p:stCondLst>
                                    <p:cond delay="44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animScale>
                                      <p:cBhvr>
                                        <p:cTn id="37" dur="400" fill="hold"/>
                                        <p:tgtEl>
                                          <p:spTgt spid="10"/>
                                        </p:tgtEl>
                                      </p:cBhvr>
                                      <p:from x="62000" y="62000"/>
                                      <p:to x="100000" y="100000"/>
                                    </p:animScale>
                                  </p:childTnLst>
                                </p:cTn>
                              </p:par>
                              <p:par>
                                <p:cTn id="38" presetID="10" presetClass="entr" presetSubtype="0" fill="hold" grpId="0" nodeType="withEffect">
                                  <p:stCondLst>
                                    <p:cond delay="5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DEMO, STEP BY STEP</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Point. Sweep. </a:t>
            </a:r>
            <a:pPr algn="l" indent="0" marL="0">
              <a:buNone/>
            </a:pPr>
            <a:r>
              <a:rPr lang="en-US" sz="3300" b="1" dirty="0">
                <a:solidFill>
                  <a:srgbClr val="FF7A18"/>
                </a:solidFill>
                <a:latin typeface="Arial" pitchFamily="34" charset="0"/>
                <a:ea typeface="Arial" pitchFamily="34" charset="-122"/>
                <a:cs typeface="Arial" pitchFamily="34" charset="-120"/>
              </a:rPr>
              <a:t>Ship.</a:t>
            </a:r>
            <a:endParaRPr lang="en-US" sz="3300" dirty="0"/>
          </a:p>
        </p:txBody>
      </p:sp>
      <p:pic>
        <p:nvPicPr>
          <p:cNvPr id="5" name="phone" descr="/home/claude/build/img/phone.png">    </p:cNvPr>
          <p:cNvPicPr>
            <a:picLocks noChangeAspect="1"/>
          </p:cNvPicPr>
          <p:nvPr/>
        </p:nvPicPr>
        <p:blipFill>
          <a:blip r:embed="rId2"/>
          <a:stretch>
            <a:fillRect/>
          </a:stretch>
        </p:blipFill>
        <p:spPr>
          <a:xfrm>
            <a:off x="9006840" y="1554480"/>
            <a:ext cx="2633472" cy="5001768"/>
          </a:xfrm>
          <a:prstGeom prst="rect">
            <a:avLst/>
          </a:prstGeom>
        </p:spPr>
      </p:pic>
      <p:sp>
        <p:nvSpPr>
          <p:cNvPr id="6" name="s0"/>
          <p:cNvSpPr/>
          <p:nvPr/>
        </p:nvSpPr>
        <p:spPr>
          <a:xfrm>
            <a:off x="685800" y="1901952"/>
            <a:ext cx="420624" cy="420624"/>
          </a:xfrm>
          <a:prstGeom prst="ellipse">
            <a:avLst/>
          </a:prstGeom>
          <a:solidFill>
            <a:srgbClr val="FF7A18">
              <a:alpha val="18000"/>
            </a:srgbClr>
          </a:solidFill>
          <a:ln w="15240">
            <a:solidFill>
              <a:srgbClr val="FF7A18"/>
            </a:solidFill>
            <a:prstDash val="solid"/>
          </a:ln>
        </p:spPr>
      </p:sp>
      <p:sp>
        <p:nvSpPr>
          <p:cNvPr id="7" name="s0n"/>
          <p:cNvSpPr txBox="1"/>
          <p:nvPr/>
        </p:nvSpPr>
        <p:spPr>
          <a:xfrm>
            <a:off x="685800" y="1901952"/>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1</a:t>
            </a:r>
            <a:endParaRPr lang="en-US" sz="1300" dirty="0"/>
          </a:p>
        </p:txBody>
      </p:sp>
      <p:sp>
        <p:nvSpPr>
          <p:cNvPr id="8" name="s0t"/>
          <p:cNvSpPr txBox="1"/>
          <p:nvPr/>
        </p:nvSpPr>
        <p:spPr>
          <a:xfrm>
            <a:off x="1271016" y="1837944"/>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AIM</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Hold the iQOO at the whiteboard. Nothing is uploaded.</a:t>
            </a:r>
            <a:endParaRPr lang="en-US" sz="1450" dirty="0"/>
          </a:p>
        </p:txBody>
      </p:sp>
      <p:sp>
        <p:nvSpPr>
          <p:cNvPr id="9" name="s1"/>
          <p:cNvSpPr/>
          <p:nvPr/>
        </p:nvSpPr>
        <p:spPr>
          <a:xfrm>
            <a:off x="4727448" y="1901952"/>
            <a:ext cx="420624" cy="420624"/>
          </a:xfrm>
          <a:prstGeom prst="ellipse">
            <a:avLst/>
          </a:prstGeom>
          <a:solidFill>
            <a:srgbClr val="FF7A18">
              <a:alpha val="18000"/>
            </a:srgbClr>
          </a:solidFill>
          <a:ln w="15240">
            <a:solidFill>
              <a:srgbClr val="FF7A18"/>
            </a:solidFill>
            <a:prstDash val="solid"/>
          </a:ln>
        </p:spPr>
      </p:sp>
      <p:sp>
        <p:nvSpPr>
          <p:cNvPr id="10" name="s1n"/>
          <p:cNvSpPr txBox="1"/>
          <p:nvPr/>
        </p:nvSpPr>
        <p:spPr>
          <a:xfrm>
            <a:off x="4727448" y="1901952"/>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2</a:t>
            </a:r>
            <a:endParaRPr lang="en-US" sz="1300" dirty="0"/>
          </a:p>
        </p:txBody>
      </p:sp>
      <p:sp>
        <p:nvSpPr>
          <p:cNvPr id="11" name="s1t"/>
          <p:cNvSpPr txBox="1"/>
          <p:nvPr/>
        </p:nvSpPr>
        <p:spPr>
          <a:xfrm>
            <a:off x="5312664" y="1837944"/>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SWEEP</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Tap Start Sweep. Eight frames, one haptic tick.</a:t>
            </a:r>
            <a:endParaRPr lang="en-US" sz="1450" dirty="0"/>
          </a:p>
        </p:txBody>
      </p:sp>
      <p:sp>
        <p:nvSpPr>
          <p:cNvPr id="12" name="s2"/>
          <p:cNvSpPr/>
          <p:nvPr/>
        </p:nvSpPr>
        <p:spPr>
          <a:xfrm>
            <a:off x="685800" y="3200400"/>
            <a:ext cx="420624" cy="420624"/>
          </a:xfrm>
          <a:prstGeom prst="ellipse">
            <a:avLst/>
          </a:prstGeom>
          <a:solidFill>
            <a:srgbClr val="FF7A18">
              <a:alpha val="18000"/>
            </a:srgbClr>
          </a:solidFill>
          <a:ln w="15240">
            <a:solidFill>
              <a:srgbClr val="FF7A18"/>
            </a:solidFill>
            <a:prstDash val="solid"/>
          </a:ln>
        </p:spPr>
      </p:sp>
      <p:sp>
        <p:nvSpPr>
          <p:cNvPr id="13" name="s2n"/>
          <p:cNvSpPr txBox="1"/>
          <p:nvPr/>
        </p:nvSpPr>
        <p:spPr>
          <a:xfrm>
            <a:off x="685800" y="3200400"/>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3</a:t>
            </a:r>
            <a:endParaRPr lang="en-US" sz="1300" dirty="0"/>
          </a:p>
        </p:txBody>
      </p:sp>
      <p:sp>
        <p:nvSpPr>
          <p:cNvPr id="14" name="s2t"/>
          <p:cNvSpPr txBox="1"/>
          <p:nvPr/>
        </p:nvSpPr>
        <p:spPr>
          <a:xfrm>
            <a:off x="1271016" y="3136392"/>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RECTIFY</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OpenCV flattens the perspective into a clean plane.</a:t>
            </a:r>
            <a:endParaRPr lang="en-US" sz="1450" dirty="0"/>
          </a:p>
        </p:txBody>
      </p:sp>
      <p:sp>
        <p:nvSpPr>
          <p:cNvPr id="15" name="s3"/>
          <p:cNvSpPr/>
          <p:nvPr/>
        </p:nvSpPr>
        <p:spPr>
          <a:xfrm>
            <a:off x="4727448" y="3200400"/>
            <a:ext cx="420624" cy="420624"/>
          </a:xfrm>
          <a:prstGeom prst="ellipse">
            <a:avLst/>
          </a:prstGeom>
          <a:solidFill>
            <a:srgbClr val="FF7A18">
              <a:alpha val="18000"/>
            </a:srgbClr>
          </a:solidFill>
          <a:ln w="15240">
            <a:solidFill>
              <a:srgbClr val="FF7A18"/>
            </a:solidFill>
            <a:prstDash val="solid"/>
          </a:ln>
        </p:spPr>
      </p:sp>
      <p:sp>
        <p:nvSpPr>
          <p:cNvPr id="16" name="s3n"/>
          <p:cNvSpPr txBox="1"/>
          <p:nvPr/>
        </p:nvSpPr>
        <p:spPr>
          <a:xfrm>
            <a:off x="4727448" y="3200400"/>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4</a:t>
            </a:r>
            <a:endParaRPr lang="en-US" sz="1300" dirty="0"/>
          </a:p>
        </p:txBody>
      </p:sp>
      <p:sp>
        <p:nvSpPr>
          <p:cNvPr id="17" name="s3t"/>
          <p:cNvSpPr txBox="1"/>
          <p:nvPr/>
        </p:nvSpPr>
        <p:spPr>
          <a:xfrm>
            <a:off x="5312664" y="3136392"/>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DETECT</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MediaPipe finds every box, row and text run.</a:t>
            </a:r>
            <a:endParaRPr lang="en-US" sz="1450" dirty="0"/>
          </a:p>
        </p:txBody>
      </p:sp>
      <p:sp>
        <p:nvSpPr>
          <p:cNvPr id="18" name="s4"/>
          <p:cNvSpPr/>
          <p:nvPr/>
        </p:nvSpPr>
        <p:spPr>
          <a:xfrm>
            <a:off x="685800" y="4498848"/>
            <a:ext cx="420624" cy="420624"/>
          </a:xfrm>
          <a:prstGeom prst="ellipse">
            <a:avLst/>
          </a:prstGeom>
          <a:solidFill>
            <a:srgbClr val="FF7A18">
              <a:alpha val="18000"/>
            </a:srgbClr>
          </a:solidFill>
          <a:ln w="15240">
            <a:solidFill>
              <a:srgbClr val="FF7A18"/>
            </a:solidFill>
            <a:prstDash val="solid"/>
          </a:ln>
        </p:spPr>
      </p:sp>
      <p:sp>
        <p:nvSpPr>
          <p:cNvPr id="19" name="s4n"/>
          <p:cNvSpPr txBox="1"/>
          <p:nvPr/>
        </p:nvSpPr>
        <p:spPr>
          <a:xfrm>
            <a:off x="685800" y="4498848"/>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5</a:t>
            </a:r>
            <a:endParaRPr lang="en-US" sz="1300" dirty="0"/>
          </a:p>
        </p:txBody>
      </p:sp>
      <p:sp>
        <p:nvSpPr>
          <p:cNvPr id="20" name="s4t"/>
          <p:cNvSpPr txBox="1"/>
          <p:nvPr/>
        </p:nvSpPr>
        <p:spPr>
          <a:xfrm>
            <a:off x="1271016" y="4434840"/>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FORGE</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The Hexagon NPU emits a constrained JSON layout.</a:t>
            </a:r>
            <a:endParaRPr lang="en-US" sz="1450" dirty="0"/>
          </a:p>
        </p:txBody>
      </p:sp>
      <p:sp>
        <p:nvSpPr>
          <p:cNvPr id="21" name="s5"/>
          <p:cNvSpPr/>
          <p:nvPr/>
        </p:nvSpPr>
        <p:spPr>
          <a:xfrm>
            <a:off x="4727448" y="4498848"/>
            <a:ext cx="420624" cy="420624"/>
          </a:xfrm>
          <a:prstGeom prst="ellipse">
            <a:avLst/>
          </a:prstGeom>
          <a:solidFill>
            <a:srgbClr val="FF7A18">
              <a:alpha val="18000"/>
            </a:srgbClr>
          </a:solidFill>
          <a:ln w="15240">
            <a:solidFill>
              <a:srgbClr val="FF7A18"/>
            </a:solidFill>
            <a:prstDash val="solid"/>
          </a:ln>
        </p:spPr>
      </p:sp>
      <p:sp>
        <p:nvSpPr>
          <p:cNvPr id="22" name="s5n"/>
          <p:cNvSpPr txBox="1"/>
          <p:nvPr/>
        </p:nvSpPr>
        <p:spPr>
          <a:xfrm>
            <a:off x="4727448" y="4498848"/>
            <a:ext cx="420624" cy="420624"/>
          </a:xfrm>
          <a:prstGeom prst="rect">
            <a:avLst/>
          </a:prstGeom>
          <a:noFill/>
          <a:ln/>
        </p:spPr>
        <p:txBody>
          <a:bodyPr wrap="square" lIns="0" tIns="0" rIns="0" bIns="0" rtlCol="0" anchor="ctr"/>
          <a:lstStyle/>
          <a:p>
            <a:pPr algn="ctr" indent="0" marL="0">
              <a:buNone/>
            </a:pPr>
            <a:r>
              <a:rPr lang="en-US" sz="1300" b="1" dirty="0">
                <a:solidFill>
                  <a:srgbClr val="FFB347"/>
                </a:solidFill>
                <a:latin typeface="Arial" pitchFamily="34" charset="0"/>
                <a:ea typeface="Arial" pitchFamily="34" charset="-122"/>
                <a:cs typeface="Arial" pitchFamily="34" charset="-120"/>
              </a:rPr>
              <a:t>6</a:t>
            </a:r>
            <a:endParaRPr lang="en-US" sz="1300" dirty="0"/>
          </a:p>
        </p:txBody>
      </p:sp>
      <p:sp>
        <p:nvSpPr>
          <p:cNvPr id="23" name="s5t"/>
          <p:cNvSpPr txBox="1"/>
          <p:nvPr/>
        </p:nvSpPr>
        <p:spPr>
          <a:xfrm>
            <a:off x="5312664" y="4434840"/>
            <a:ext cx="3291840" cy="1097280"/>
          </a:xfrm>
          <a:prstGeom prst="rect">
            <a:avLst/>
          </a:prstGeom>
          <a:noFill/>
          <a:ln/>
        </p:spPr>
        <p:txBody>
          <a:bodyPr wrap="square" lIns="0" tIns="0" rIns="0" bIns="0" rtlCol="0" anchor="t"/>
          <a:lstStyle/>
          <a:p>
            <a:pPr indent="0" marL="0">
              <a:lnSpc>
                <a:spcPct val="110000"/>
              </a:lnSpc>
              <a:spcBef>
                <a:spcPts val="300"/>
              </a:spcBef>
              <a:buNone/>
            </a:pPr>
            <a:r>
              <a:rPr lang="en-US" sz="1450" b="1" spc="160" kern="0" dirty="0">
                <a:solidFill>
                  <a:srgbClr val="E8ECF5"/>
                </a:solidFill>
                <a:latin typeface="Arial" pitchFamily="34" charset="0"/>
                <a:ea typeface="Arial" pitchFamily="34" charset="-122"/>
                <a:cs typeface="Arial" pitchFamily="34" charset="-120"/>
              </a:rPr>
              <a:t>LAND</a:t>
            </a:r>
            <a:endParaRPr lang="en-US" sz="1450" dirty="0"/>
          </a:p>
          <a:p>
            <a:pPr indent="0" marL="0">
              <a:lnSpc>
                <a:spcPct val="110000"/>
              </a:lnSpc>
              <a:spcBef>
                <a:spcPts val="300"/>
              </a:spcBef>
              <a:buNone/>
            </a:pPr>
            <a:r>
              <a:rPr lang="en-US" sz="1200" dirty="0">
                <a:solidFill>
                  <a:srgbClr val="8A94AB"/>
                </a:solidFill>
                <a:latin typeface="Arial" pitchFamily="34" charset="0"/>
                <a:ea typeface="Arial" pitchFamily="34" charset="-122"/>
                <a:cs typeface="Arial" pitchFamily="34" charset="-120"/>
              </a:rPr>
              <a:t>Office Kit syncs it; TSX appears on a new Git branch.</a:t>
            </a:r>
            <a:endParaRPr lang="en-US" sz="1450" dirty="0"/>
          </a:p>
        </p:txBody>
      </p:sp>
      <p:sp>
        <p:nvSpPr>
          <p:cNvPr id="24" name="note"/>
          <p:cNvSpPr txBox="1"/>
          <p:nvPr/>
        </p:nvSpPr>
        <p:spPr>
          <a:xfrm>
            <a:off x="685800" y="5925312"/>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Total: 2.5 seconds from marker to compiling component — in airplane mode.</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60"/>
                                        <p:tgtEl>
                                          <p:spTgt spid="5"/>
                                        </p:tgtEl>
                                      </p:cBhvr>
                                    </p:animEffect>
                                    <p:anim calcmode="lin" valueType="num">
                                      <p:cBhvr additive="base">
                                        <p:cTn id="15" dur="800" fill="hold"/>
                                        <p:tgtEl>
                                          <p:spTgt spid="5"/>
                                        </p:tgtEl>
                                        <p:attrNameLst>
                                          <p:attrName>ppt_x</p:attrName>
                                        </p:attrNameLst>
                                      </p:cBhvr>
                                      <p:tavLst>
                                        <p:tav tm="0">
                                          <p:val>
                                            <p:strVal val="1+#ppt_w/2"/>
                                          </p:val>
                                        </p:tav>
                                        <p:tav tm="100000">
                                          <p:val>
                                            <p:strVal val="#ppt_x"/>
                                          </p:val>
                                        </p:tav>
                                      </p:tavLst>
                                    </p:anim>
                                  </p:childTnLst>
                                </p:cTn>
                              </p:par>
                            </p:childTnLst>
                          </p:cTn>
                        </p:par>
                      </p:childTnLst>
                    </p:cTn>
                  </p:par>
                  <p:par>
                    <p:cTn id="29" fill="hold">
                      <p:stCondLst>
                        <p:cond delay="indefinite"/>
                      </p:stCondLst>
                      <p:childTnLst>
                        <p:par>
                          <p:cTn id="30"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350"/>
                                        <p:tgtEl>
                                          <p:spTgt spid="6"/>
                                        </p:tgtEl>
                                      </p:cBhvr>
                                    </p:animEffect>
                                    <p:animScale>
                                      <p:cBhvr>
                                        <p:cTn id="21" dur="350" fill="hold"/>
                                        <p:tgtEl>
                                          <p:spTgt spid="6"/>
                                        </p:tgtEl>
                                      </p:cBhvr>
                                      <p:from x="62000" y="62000"/>
                                      <p:to x="100000" y="100000"/>
                                    </p:animScale>
                                  </p:childTnLst>
                                </p:cTn>
                              </p:par>
                              <p:par>
                                <p:cTn id="22" presetID="10" presetClass="entr" presetSubtype="0" fill="hold" grpId="0" nodeType="withEffect">
                                  <p:stCondLst>
                                    <p:cond delay="6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50"/>
                                        <p:tgtEl>
                                          <p:spTgt spid="7"/>
                                        </p:tgtEl>
                                      </p:cBhvr>
                                    </p:animEffect>
                                  </p:childTnLst>
                                </p:cTn>
                              </p:par>
                              <p:par>
                                <p:cTn id="25" presetID="2" presetClass="entr" presetSubtype="8" fill="hold" grpId="0" nodeType="withEffect">
                                  <p:stCondLst>
                                    <p:cond delay="1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15"/>
                                        <p:tgtEl>
                                          <p:spTgt spid="8"/>
                                        </p:tgtEl>
                                      </p:cBhvr>
                                    </p:animEffect>
                                    <p:anim calcmode="lin" valueType="num">
                                      <p:cBhvr additive="base">
                                        <p:cTn id="28" dur="450" fill="hold"/>
                                        <p:tgtEl>
                                          <p:spTgt spid="8"/>
                                        </p:tgtEl>
                                        <p:attrNameLst>
                                          <p:attrName>ppt_x</p:attrName>
                                        </p:attrNameLst>
                                      </p:cBhvr>
                                      <p:tavLst>
                                        <p:tav tm="0">
                                          <p:val>
                                            <p:strVal val="0-#ppt_w/2"/>
                                          </p:val>
                                        </p:tav>
                                        <p:tav tm="100000">
                                          <p:val>
                                            <p:strVal val="#ppt_x"/>
                                          </p:val>
                                        </p:tav>
                                      </p:tavLst>
                                    </p:anim>
                                  </p:childTnLst>
                                </p:cTn>
                              </p:par>
                            </p:childTnLst>
                          </p:cTn>
                        </p:par>
                      </p:childTnLst>
                    </p:cTn>
                  </p:par>
                  <p:par>
                    <p:cTn id="42" fill="hold">
                      <p:stCondLst>
                        <p:cond delay="indefinite"/>
                      </p:stCondLst>
                      <p:childTnLst>
                        <p:par>
                          <p:cTn id="43"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350"/>
                                        <p:tgtEl>
                                          <p:spTgt spid="9"/>
                                        </p:tgtEl>
                                      </p:cBhvr>
                                    </p:animEffect>
                                    <p:animScale>
                                      <p:cBhvr>
                                        <p:cTn id="34" dur="350" fill="hold"/>
                                        <p:tgtEl>
                                          <p:spTgt spid="9"/>
                                        </p:tgtEl>
                                      </p:cBhvr>
                                      <p:from x="62000" y="62000"/>
                                      <p:to x="100000" y="100000"/>
                                    </p:animScale>
                                  </p:childTnLst>
                                </p:cTn>
                              </p:par>
                              <p:par>
                                <p:cTn id="35" presetID="10" presetClass="entr" presetSubtype="0" fill="hold" grpId="0" nodeType="withEffect">
                                  <p:stCondLst>
                                    <p:cond delay="6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350"/>
                                        <p:tgtEl>
                                          <p:spTgt spid="10"/>
                                        </p:tgtEl>
                                      </p:cBhvr>
                                    </p:animEffect>
                                  </p:childTnLst>
                                </p:cTn>
                              </p:par>
                              <p:par>
                                <p:cTn id="38" presetID="2" presetClass="entr" presetSubtype="8" fill="hold" grpId="0" nodeType="withEffect">
                                  <p:stCondLst>
                                    <p:cond delay="1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315"/>
                                        <p:tgtEl>
                                          <p:spTgt spid="11"/>
                                        </p:tgtEl>
                                      </p:cBhvr>
                                    </p:animEffect>
                                    <p:anim calcmode="lin" valueType="num">
                                      <p:cBhvr additive="base">
                                        <p:cTn id="41" dur="450" fill="hold"/>
                                        <p:tgtEl>
                                          <p:spTgt spid="11"/>
                                        </p:tgtEl>
                                        <p:attrNameLst>
                                          <p:attrName>ppt_x</p:attrName>
                                        </p:attrNameLst>
                                      </p:cBhvr>
                                      <p:tavLst>
                                        <p:tav tm="0">
                                          <p:val>
                                            <p:strVal val="0-#ppt_w/2"/>
                                          </p:val>
                                        </p:tav>
                                        <p:tav tm="100000">
                                          <p:val>
                                            <p:strVal val="#ppt_x"/>
                                          </p:val>
                                        </p:tav>
                                      </p:tavLst>
                                    </p:anim>
                                  </p:childTnLst>
                                </p:cTn>
                              </p:par>
                            </p:childTnLst>
                          </p:cTn>
                        </p:par>
                      </p:childTnLst>
                    </p:cTn>
                  </p:par>
                  <p:par>
                    <p:cTn id="55" fill="hold">
                      <p:stCondLst>
                        <p:cond delay="indefinite"/>
                      </p:stCondLst>
                      <p:childTnLst>
                        <p:par>
                          <p:cTn id="56"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350"/>
                                        <p:tgtEl>
                                          <p:spTgt spid="12"/>
                                        </p:tgtEl>
                                      </p:cBhvr>
                                    </p:animEffect>
                                    <p:animScale>
                                      <p:cBhvr>
                                        <p:cTn id="47" dur="350" fill="hold"/>
                                        <p:tgtEl>
                                          <p:spTgt spid="12"/>
                                        </p:tgtEl>
                                      </p:cBhvr>
                                      <p:from x="62000" y="62000"/>
                                      <p:to x="100000" y="100000"/>
                                    </p:animScale>
                                  </p:childTnLst>
                                </p:cTn>
                              </p:par>
                              <p:par>
                                <p:cTn id="48" presetID="10" presetClass="entr" presetSubtype="0" fill="hold" grpId="0" nodeType="withEffect">
                                  <p:stCondLst>
                                    <p:cond delay="6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350"/>
                                        <p:tgtEl>
                                          <p:spTgt spid="13"/>
                                        </p:tgtEl>
                                      </p:cBhvr>
                                    </p:animEffect>
                                  </p:childTnLst>
                                </p:cTn>
                              </p:par>
                              <p:par>
                                <p:cTn id="51" presetID="2" presetClass="entr" presetSubtype="8" fill="hold" grpId="0" nodeType="withEffect">
                                  <p:stCondLst>
                                    <p:cond delay="1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315"/>
                                        <p:tgtEl>
                                          <p:spTgt spid="14"/>
                                        </p:tgtEl>
                                      </p:cBhvr>
                                    </p:animEffect>
                                    <p:anim calcmode="lin" valueType="num">
                                      <p:cBhvr additive="base">
                                        <p:cTn id="54" dur="450" fill="hold"/>
                                        <p:tgtEl>
                                          <p:spTgt spid="14"/>
                                        </p:tgtEl>
                                        <p:attrNameLst>
                                          <p:attrName>ppt_x</p:attrName>
                                        </p:attrNameLst>
                                      </p:cBhvr>
                                      <p:tavLst>
                                        <p:tav tm="0">
                                          <p:val>
                                            <p:strVal val="0-#ppt_w/2"/>
                                          </p:val>
                                        </p:tav>
                                        <p:tav tm="100000">
                                          <p:val>
                                            <p:strVal val="#ppt_x"/>
                                          </p:val>
                                        </p:tav>
                                      </p:tavLst>
                                    </p:anim>
                                  </p:childTnLst>
                                </p:cTn>
                              </p:par>
                            </p:childTnLst>
                          </p:cTn>
                        </p:par>
                      </p:childTnLst>
                    </p:cTn>
                  </p:par>
                  <p:par>
                    <p:cTn id="68" fill="hold">
                      <p:stCondLst>
                        <p:cond delay="indefinite"/>
                      </p:stCondLst>
                      <p:childTnLst>
                        <p:par>
                          <p:cTn id="69"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50"/>
                                        <p:tgtEl>
                                          <p:spTgt spid="15"/>
                                        </p:tgtEl>
                                      </p:cBhvr>
                                    </p:animEffect>
                                    <p:animScale>
                                      <p:cBhvr>
                                        <p:cTn id="60" dur="350" fill="hold"/>
                                        <p:tgtEl>
                                          <p:spTgt spid="15"/>
                                        </p:tgtEl>
                                      </p:cBhvr>
                                      <p:from x="62000" y="62000"/>
                                      <p:to x="100000" y="100000"/>
                                    </p:animScale>
                                  </p:childTnLst>
                                </p:cTn>
                              </p:par>
                              <p:par>
                                <p:cTn id="61" presetID="10" presetClass="entr" presetSubtype="0" fill="hold" grpId="0" nodeType="withEffect">
                                  <p:stCondLst>
                                    <p:cond delay="6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350"/>
                                        <p:tgtEl>
                                          <p:spTgt spid="16"/>
                                        </p:tgtEl>
                                      </p:cBhvr>
                                    </p:animEffect>
                                  </p:childTnLst>
                                </p:cTn>
                              </p:par>
                              <p:par>
                                <p:cTn id="64" presetID="2" presetClass="entr" presetSubtype="8" fill="hold" grpId="0" nodeType="withEffect">
                                  <p:stCondLst>
                                    <p:cond delay="10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315"/>
                                        <p:tgtEl>
                                          <p:spTgt spid="17"/>
                                        </p:tgtEl>
                                      </p:cBhvr>
                                    </p:animEffect>
                                    <p:anim calcmode="lin" valueType="num">
                                      <p:cBhvr additive="base">
                                        <p:cTn id="67" dur="450" fill="hold"/>
                                        <p:tgtEl>
                                          <p:spTgt spid="17"/>
                                        </p:tgtEl>
                                        <p:attrNameLst>
                                          <p:attrName>ppt_x</p:attrName>
                                        </p:attrNameLst>
                                      </p:cBhvr>
                                      <p:tavLst>
                                        <p:tav tm="0">
                                          <p:val>
                                            <p:strVal val="0-#ppt_w/2"/>
                                          </p:val>
                                        </p:tav>
                                        <p:tav tm="100000">
                                          <p:val>
                                            <p:strVal val="#ppt_x"/>
                                          </p:val>
                                        </p:tav>
                                      </p:tavLst>
                                    </p:anim>
                                  </p:childTnLst>
                                </p:cTn>
                              </p:par>
                            </p:childTnLst>
                          </p:cTn>
                        </p:par>
                      </p:childTnLst>
                    </p:cTn>
                  </p:par>
                  <p:par>
                    <p:cTn id="81" fill="hold">
                      <p:stCondLst>
                        <p:cond delay="indefinite"/>
                      </p:stCondLst>
                      <p:childTnLst>
                        <p:par>
                          <p:cTn id="82"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350"/>
                                        <p:tgtEl>
                                          <p:spTgt spid="18"/>
                                        </p:tgtEl>
                                      </p:cBhvr>
                                    </p:animEffect>
                                    <p:animScale>
                                      <p:cBhvr>
                                        <p:cTn id="73" dur="350" fill="hold"/>
                                        <p:tgtEl>
                                          <p:spTgt spid="18"/>
                                        </p:tgtEl>
                                      </p:cBhvr>
                                      <p:from x="62000" y="62000"/>
                                      <p:to x="100000" y="100000"/>
                                    </p:animScale>
                                  </p:childTnLst>
                                </p:cTn>
                              </p:par>
                              <p:par>
                                <p:cTn id="74" presetID="10" presetClass="entr" presetSubtype="0" fill="hold" grpId="0" nodeType="withEffect">
                                  <p:stCondLst>
                                    <p:cond delay="6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350"/>
                                        <p:tgtEl>
                                          <p:spTgt spid="19"/>
                                        </p:tgtEl>
                                      </p:cBhvr>
                                    </p:animEffect>
                                  </p:childTnLst>
                                </p:cTn>
                              </p:par>
                              <p:par>
                                <p:cTn id="77" presetID="2" presetClass="entr" presetSubtype="8" fill="hold" grpId="0" nodeType="withEffect">
                                  <p:stCondLst>
                                    <p:cond delay="10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315"/>
                                        <p:tgtEl>
                                          <p:spTgt spid="20"/>
                                        </p:tgtEl>
                                      </p:cBhvr>
                                    </p:animEffect>
                                    <p:anim calcmode="lin" valueType="num">
                                      <p:cBhvr additive="base">
                                        <p:cTn id="80" dur="450" fill="hold"/>
                                        <p:tgtEl>
                                          <p:spTgt spid="20"/>
                                        </p:tgtEl>
                                        <p:attrNameLst>
                                          <p:attrName>ppt_x</p:attrName>
                                        </p:attrNameLst>
                                      </p:cBhvr>
                                      <p:tavLst>
                                        <p:tav tm="0">
                                          <p:val>
                                            <p:strVal val="0-#ppt_w/2"/>
                                          </p:val>
                                        </p:tav>
                                        <p:tav tm="100000">
                                          <p:val>
                                            <p:strVal val="#ppt_x"/>
                                          </p:val>
                                        </p:tav>
                                      </p:tavLst>
                                    </p:anim>
                                  </p:childTnLst>
                                </p:cTn>
                              </p:par>
                            </p:childTnLst>
                          </p:cTn>
                        </p:par>
                      </p:childTnLst>
                    </p:cTn>
                  </p:par>
                  <p:par>
                    <p:cTn id="94" fill="hold">
                      <p:stCondLst>
                        <p:cond delay="indefinite"/>
                      </p:stCondLst>
                      <p:childTnLst>
                        <p:par>
                          <p:cTn id="95" fill="hold">
                            <p:stCondLst>
                              <p:cond delay="0"/>
                            </p:stCondLst>
                            <p:childTnLst>
                              <p:par>
                                <p:cTn id="83" presetID="23" presetClass="entr" presetSubtype="16"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350"/>
                                        <p:tgtEl>
                                          <p:spTgt spid="21"/>
                                        </p:tgtEl>
                                      </p:cBhvr>
                                    </p:animEffect>
                                    <p:animScale>
                                      <p:cBhvr>
                                        <p:cTn id="86" dur="350" fill="hold"/>
                                        <p:tgtEl>
                                          <p:spTgt spid="21"/>
                                        </p:tgtEl>
                                      </p:cBhvr>
                                      <p:from x="62000" y="62000"/>
                                      <p:to x="100000" y="100000"/>
                                    </p:animScale>
                                  </p:childTnLst>
                                </p:cTn>
                              </p:par>
                              <p:par>
                                <p:cTn id="87" presetID="10" presetClass="entr" presetSubtype="0" fill="hold" grpId="0" nodeType="withEffect">
                                  <p:stCondLst>
                                    <p:cond delay="6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350"/>
                                        <p:tgtEl>
                                          <p:spTgt spid="22"/>
                                        </p:tgtEl>
                                      </p:cBhvr>
                                    </p:animEffect>
                                  </p:childTnLst>
                                </p:cTn>
                              </p:par>
                              <p:par>
                                <p:cTn id="90" presetID="2" presetClass="entr" presetSubtype="8" fill="hold" grpId="0" nodeType="withEffect">
                                  <p:stCondLst>
                                    <p:cond delay="1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315"/>
                                        <p:tgtEl>
                                          <p:spTgt spid="23"/>
                                        </p:tgtEl>
                                      </p:cBhvr>
                                    </p:animEffect>
                                    <p:anim calcmode="lin" valueType="num">
                                      <p:cBhvr additive="base">
                                        <p:cTn id="93" dur="450" fill="hold"/>
                                        <p:tgtEl>
                                          <p:spTgt spid="23"/>
                                        </p:tgtEl>
                                        <p:attrNameLst>
                                          <p:attrName>ppt_x</p:attrName>
                                        </p:attrNameLst>
                                      </p:cBhvr>
                                      <p:tavLst>
                                        <p:tav tm="0">
                                          <p:val>
                                            <p:strVal val="0-#ppt_w/2"/>
                                          </p:val>
                                        </p:tav>
                                        <p:tav tm="100000">
                                          <p:val>
                                            <p:strVal val="#ppt_x"/>
                                          </p:val>
                                        </p:tav>
                                      </p:tavLst>
                                    </p:anim>
                                  </p:childTnLst>
                                </p:cTn>
                              </p:par>
                            </p:childTnLst>
                          </p:cTn>
                        </p:par>
                      </p:childTnLst>
                    </p:cTn>
                  </p:par>
                  <p:par>
                    <p:cTn id="99" fill="hold">
                      <p:stCondLst>
                        <p:cond delay="indefinite"/>
                      </p:stCondLst>
                      <p:childTnLst>
                        <p:par>
                          <p:cTn id="100"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wipe(right)">
                                      <p:cBhvr>
                                        <p:cTn id="98"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A–Z ARCHITECTURE</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Seven stages. </a:t>
            </a:r>
            <a:pPr algn="l" indent="0" marL="0">
              <a:buNone/>
            </a:pPr>
            <a:r>
              <a:rPr lang="en-US" sz="3300" b="1" dirty="0">
                <a:solidFill>
                  <a:srgbClr val="FF7A18"/>
                </a:solidFill>
                <a:latin typeface="Arial" pitchFamily="34" charset="0"/>
                <a:ea typeface="Arial" pitchFamily="34" charset="-122"/>
                <a:cs typeface="Arial" pitchFamily="34" charset="-120"/>
              </a:rPr>
              <a:t>Zero packets.</a:t>
            </a:r>
            <a:endParaRPr lang="en-US" sz="3300" dirty="0"/>
          </a:p>
        </p:txBody>
      </p:sp>
      <p:sp>
        <p:nvSpPr>
          <p:cNvPr id="5" name="c0"/>
          <p:cNvSpPr/>
          <p:nvPr/>
        </p:nvSpPr>
        <p:spPr>
          <a:xfrm>
            <a:off x="685800"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6" name="c0n"/>
          <p:cNvSpPr txBox="1"/>
          <p:nvPr/>
        </p:nvSpPr>
        <p:spPr>
          <a:xfrm>
            <a:off x="685800"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01</a:t>
            </a:r>
            <a:endParaRPr lang="en-US" sz="1000" dirty="0"/>
          </a:p>
        </p:txBody>
      </p:sp>
      <p:pic>
        <p:nvPicPr>
          <p:cNvPr id="7" name="c0i" descr="/home/claude/build/img/ic_camera_si.png">    </p:cNvPr>
          <p:cNvPicPr>
            <a:picLocks noChangeAspect="1"/>
          </p:cNvPicPr>
          <p:nvPr/>
        </p:nvPicPr>
        <p:blipFill>
          <a:blip r:embed="rId2"/>
          <a:stretch>
            <a:fillRect/>
          </a:stretch>
        </p:blipFill>
        <p:spPr>
          <a:xfrm>
            <a:off x="1161288" y="2496312"/>
            <a:ext cx="420624" cy="420624"/>
          </a:xfrm>
          <a:prstGeom prst="rect">
            <a:avLst/>
          </a:prstGeom>
        </p:spPr>
      </p:pic>
      <p:sp>
        <p:nvSpPr>
          <p:cNvPr id="8" name="c0t"/>
          <p:cNvSpPr txBox="1"/>
          <p:nvPr/>
        </p:nvSpPr>
        <p:spPr>
          <a:xfrm>
            <a:off x="740664"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CAPTURE</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Camera · 8 frames</a:t>
            </a:r>
            <a:endParaRPr lang="en-US" sz="1150" dirty="0"/>
          </a:p>
        </p:txBody>
      </p:sp>
      <p:sp>
        <p:nvSpPr>
          <p:cNvPr id="9" name="a0"/>
          <p:cNvSpPr txBox="1"/>
          <p:nvPr/>
        </p:nvSpPr>
        <p:spPr>
          <a:xfrm>
            <a:off x="2057400"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10" name="c1"/>
          <p:cNvSpPr/>
          <p:nvPr/>
        </p:nvSpPr>
        <p:spPr>
          <a:xfrm>
            <a:off x="2258568"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11" name="c1n"/>
          <p:cNvSpPr txBox="1"/>
          <p:nvPr/>
        </p:nvSpPr>
        <p:spPr>
          <a:xfrm>
            <a:off x="2258568"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02</a:t>
            </a:r>
            <a:endParaRPr lang="en-US" sz="1000" dirty="0"/>
          </a:p>
        </p:txBody>
      </p:sp>
      <p:pic>
        <p:nvPicPr>
          <p:cNvPr id="12" name="c1i" descr="/home/claude/build/img/ic_crop_si.png">    </p:cNvPr>
          <p:cNvPicPr>
            <a:picLocks noChangeAspect="1"/>
          </p:cNvPicPr>
          <p:nvPr/>
        </p:nvPicPr>
        <p:blipFill>
          <a:blip r:embed="rId3"/>
          <a:stretch>
            <a:fillRect/>
          </a:stretch>
        </p:blipFill>
        <p:spPr>
          <a:xfrm>
            <a:off x="2734056" y="2496312"/>
            <a:ext cx="420624" cy="420624"/>
          </a:xfrm>
          <a:prstGeom prst="rect">
            <a:avLst/>
          </a:prstGeom>
        </p:spPr>
      </p:pic>
      <p:sp>
        <p:nvSpPr>
          <p:cNvPr id="13" name="c1t"/>
          <p:cNvSpPr txBox="1"/>
          <p:nvPr/>
        </p:nvSpPr>
        <p:spPr>
          <a:xfrm>
            <a:off x="2313432"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RECTIFY</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OpenCV</a:t>
            </a:r>
            <a:endParaRPr lang="en-US" sz="1150" dirty="0"/>
          </a:p>
        </p:txBody>
      </p:sp>
      <p:sp>
        <p:nvSpPr>
          <p:cNvPr id="14" name="a1"/>
          <p:cNvSpPr txBox="1"/>
          <p:nvPr/>
        </p:nvSpPr>
        <p:spPr>
          <a:xfrm>
            <a:off x="3630168"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15" name="c2"/>
          <p:cNvSpPr/>
          <p:nvPr/>
        </p:nvSpPr>
        <p:spPr>
          <a:xfrm>
            <a:off x="3831336"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16" name="c2n"/>
          <p:cNvSpPr txBox="1"/>
          <p:nvPr/>
        </p:nvSpPr>
        <p:spPr>
          <a:xfrm>
            <a:off x="3831336"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03</a:t>
            </a:r>
            <a:endParaRPr lang="en-US" sz="1000" dirty="0"/>
          </a:p>
        </p:txBody>
      </p:sp>
      <p:pic>
        <p:nvPicPr>
          <p:cNvPr id="17" name="c2i" descr="/home/claude/build/img/ic_grid_si.png">    </p:cNvPr>
          <p:cNvPicPr>
            <a:picLocks noChangeAspect="1"/>
          </p:cNvPicPr>
          <p:nvPr/>
        </p:nvPicPr>
        <p:blipFill>
          <a:blip r:embed="rId4"/>
          <a:stretch>
            <a:fillRect/>
          </a:stretch>
        </p:blipFill>
        <p:spPr>
          <a:xfrm>
            <a:off x="4306824" y="2496312"/>
            <a:ext cx="420624" cy="420624"/>
          </a:xfrm>
          <a:prstGeom prst="rect">
            <a:avLst/>
          </a:prstGeom>
        </p:spPr>
      </p:pic>
      <p:sp>
        <p:nvSpPr>
          <p:cNvPr id="18" name="c2t"/>
          <p:cNvSpPr txBox="1"/>
          <p:nvPr/>
        </p:nvSpPr>
        <p:spPr>
          <a:xfrm>
            <a:off x="3886200"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DETECT</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MediaPipe</a:t>
            </a:r>
            <a:endParaRPr lang="en-US" sz="1150" dirty="0"/>
          </a:p>
        </p:txBody>
      </p:sp>
      <p:sp>
        <p:nvSpPr>
          <p:cNvPr id="19" name="a2"/>
          <p:cNvSpPr txBox="1"/>
          <p:nvPr/>
        </p:nvSpPr>
        <p:spPr>
          <a:xfrm>
            <a:off x="5202936"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20" name="c3"/>
          <p:cNvSpPr/>
          <p:nvPr/>
        </p:nvSpPr>
        <p:spPr>
          <a:xfrm>
            <a:off x="5404104" y="2057400"/>
            <a:ext cx="1371600" cy="1810512"/>
          </a:xfrm>
          <a:prstGeom prst="roundRect">
            <a:avLst>
              <a:gd name="adj" fmla="val 6667"/>
            </a:avLst>
          </a:prstGeom>
          <a:solidFill>
            <a:srgbClr val="121A2E">
              <a:alpha val="96000"/>
            </a:srgbClr>
          </a:solidFill>
          <a:ln w="20320">
            <a:solidFill>
              <a:srgbClr val="FF7A18"/>
            </a:solidFill>
            <a:prstDash val="solid"/>
          </a:ln>
        </p:spPr>
      </p:sp>
      <p:sp>
        <p:nvSpPr>
          <p:cNvPr id="21" name="c3n"/>
          <p:cNvSpPr txBox="1"/>
          <p:nvPr/>
        </p:nvSpPr>
        <p:spPr>
          <a:xfrm>
            <a:off x="5404104"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04</a:t>
            </a:r>
            <a:endParaRPr lang="en-US" sz="1000" dirty="0"/>
          </a:p>
        </p:txBody>
      </p:sp>
      <p:pic>
        <p:nvPicPr>
          <p:cNvPr id="22" name="c3i" descr="/home/claude/build/img/ic_cpu_em.png">    </p:cNvPr>
          <p:cNvPicPr>
            <a:picLocks noChangeAspect="1"/>
          </p:cNvPicPr>
          <p:nvPr/>
        </p:nvPicPr>
        <p:blipFill>
          <a:blip r:embed="rId5"/>
          <a:stretch>
            <a:fillRect/>
          </a:stretch>
        </p:blipFill>
        <p:spPr>
          <a:xfrm>
            <a:off x="5879592" y="2496312"/>
            <a:ext cx="420624" cy="420624"/>
          </a:xfrm>
          <a:prstGeom prst="rect">
            <a:avLst/>
          </a:prstGeom>
        </p:spPr>
      </p:pic>
      <p:sp>
        <p:nvSpPr>
          <p:cNvPr id="23" name="c3t"/>
          <p:cNvSpPr txBox="1"/>
          <p:nvPr/>
        </p:nvSpPr>
        <p:spPr>
          <a:xfrm>
            <a:off x="5458968"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FORGE</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Hexagon NPU</a:t>
            </a:r>
            <a:endParaRPr lang="en-US" sz="1150" dirty="0"/>
          </a:p>
        </p:txBody>
      </p:sp>
      <p:sp>
        <p:nvSpPr>
          <p:cNvPr id="24" name="a3"/>
          <p:cNvSpPr txBox="1"/>
          <p:nvPr/>
        </p:nvSpPr>
        <p:spPr>
          <a:xfrm>
            <a:off x="6775704"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25" name="c4"/>
          <p:cNvSpPr/>
          <p:nvPr/>
        </p:nvSpPr>
        <p:spPr>
          <a:xfrm>
            <a:off x="6976872"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26" name="c4n"/>
          <p:cNvSpPr txBox="1"/>
          <p:nvPr/>
        </p:nvSpPr>
        <p:spPr>
          <a:xfrm>
            <a:off x="6976872"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05</a:t>
            </a:r>
            <a:endParaRPr lang="en-US" sz="1000" dirty="0"/>
          </a:p>
        </p:txBody>
      </p:sp>
      <p:pic>
        <p:nvPicPr>
          <p:cNvPr id="27" name="c4i" descr="/home/claude/build/img/ic_code_em.png">    </p:cNvPr>
          <p:cNvPicPr>
            <a:picLocks noChangeAspect="1"/>
          </p:cNvPicPr>
          <p:nvPr/>
        </p:nvPicPr>
        <p:blipFill>
          <a:blip r:embed="rId6"/>
          <a:stretch>
            <a:fillRect/>
          </a:stretch>
        </p:blipFill>
        <p:spPr>
          <a:xfrm>
            <a:off x="7452360" y="2496312"/>
            <a:ext cx="420624" cy="420624"/>
          </a:xfrm>
          <a:prstGeom prst="rect">
            <a:avLst/>
          </a:prstGeom>
        </p:spPr>
      </p:pic>
      <p:sp>
        <p:nvSpPr>
          <p:cNvPr id="28" name="c4t"/>
          <p:cNvSpPr txBox="1"/>
          <p:nvPr/>
        </p:nvSpPr>
        <p:spPr>
          <a:xfrm>
            <a:off x="7031736"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LAYOUT</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JSON schema</a:t>
            </a:r>
            <a:endParaRPr lang="en-US" sz="1150" dirty="0"/>
          </a:p>
        </p:txBody>
      </p:sp>
      <p:sp>
        <p:nvSpPr>
          <p:cNvPr id="29" name="a4"/>
          <p:cNvSpPr txBox="1"/>
          <p:nvPr/>
        </p:nvSpPr>
        <p:spPr>
          <a:xfrm>
            <a:off x="8348472"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30" name="c5"/>
          <p:cNvSpPr/>
          <p:nvPr/>
        </p:nvSpPr>
        <p:spPr>
          <a:xfrm>
            <a:off x="8549640"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31" name="c5n"/>
          <p:cNvSpPr txBox="1"/>
          <p:nvPr/>
        </p:nvSpPr>
        <p:spPr>
          <a:xfrm>
            <a:off x="8549640"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06</a:t>
            </a:r>
            <a:endParaRPr lang="en-US" sz="1000" dirty="0"/>
          </a:p>
        </p:txBody>
      </p:sp>
      <p:pic>
        <p:nvPicPr>
          <p:cNvPr id="32" name="c5i" descr="/home/claude/build/img/ic_clipboard_em.png">    </p:cNvPr>
          <p:cNvPicPr>
            <a:picLocks noChangeAspect="1"/>
          </p:cNvPicPr>
          <p:nvPr/>
        </p:nvPicPr>
        <p:blipFill>
          <a:blip r:embed="rId7"/>
          <a:stretch>
            <a:fillRect/>
          </a:stretch>
        </p:blipFill>
        <p:spPr>
          <a:xfrm>
            <a:off x="9025128" y="2496312"/>
            <a:ext cx="420624" cy="420624"/>
          </a:xfrm>
          <a:prstGeom prst="rect">
            <a:avLst/>
          </a:prstGeom>
        </p:spPr>
      </p:pic>
      <p:sp>
        <p:nvSpPr>
          <p:cNvPr id="33" name="c5t"/>
          <p:cNvSpPr txBox="1"/>
          <p:nvPr/>
        </p:nvSpPr>
        <p:spPr>
          <a:xfrm>
            <a:off x="8604504"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TRANSPORT</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Office Kit</a:t>
            </a:r>
            <a:endParaRPr lang="en-US" sz="1150" dirty="0"/>
          </a:p>
        </p:txBody>
      </p:sp>
      <p:sp>
        <p:nvSpPr>
          <p:cNvPr id="34" name="a5"/>
          <p:cNvSpPr txBox="1"/>
          <p:nvPr/>
        </p:nvSpPr>
        <p:spPr>
          <a:xfrm>
            <a:off x="9921240" y="2779776"/>
            <a:ext cx="201168" cy="365760"/>
          </a:xfrm>
          <a:prstGeom prst="rect">
            <a:avLst/>
          </a:prstGeom>
          <a:noFill/>
          <a:ln/>
        </p:spPr>
        <p:txBody>
          <a:bodyPr wrap="square" lIns="0" tIns="0" rIns="0" bIns="0" rtlCol="0" anchor="ctr"/>
          <a:lstStyle/>
          <a:p>
            <a:pPr algn="ctr" indent="0" marL="0">
              <a:buNone/>
            </a:pPr>
            <a:r>
              <a:rPr lang="en-US" sz="1800" b="1" dirty="0">
                <a:solidFill>
                  <a:srgbClr val="FF7A18"/>
                </a:solidFill>
                <a:latin typeface="Arial" pitchFamily="34" charset="0"/>
                <a:ea typeface="Arial" pitchFamily="34" charset="-122"/>
                <a:cs typeface="Arial" pitchFamily="34" charset="-120"/>
              </a:rPr>
              <a:t>›</a:t>
            </a:r>
            <a:endParaRPr lang="en-US" sz="1800" dirty="0"/>
          </a:p>
        </p:txBody>
      </p:sp>
      <p:sp>
        <p:nvSpPr>
          <p:cNvPr id="35" name="c6"/>
          <p:cNvSpPr/>
          <p:nvPr/>
        </p:nvSpPr>
        <p:spPr>
          <a:xfrm>
            <a:off x="10122408" y="2057400"/>
            <a:ext cx="1371600" cy="1810512"/>
          </a:xfrm>
          <a:prstGeom prst="roundRect">
            <a:avLst>
              <a:gd name="adj" fmla="val 6667"/>
            </a:avLst>
          </a:prstGeom>
          <a:solidFill>
            <a:srgbClr val="121A2E">
              <a:alpha val="86000"/>
            </a:srgbClr>
          </a:solidFill>
          <a:ln w="12700">
            <a:solidFill>
              <a:srgbClr val="26314E"/>
            </a:solidFill>
            <a:prstDash val="solid"/>
          </a:ln>
        </p:spPr>
      </p:sp>
      <p:sp>
        <p:nvSpPr>
          <p:cNvPr id="36" name="c6n"/>
          <p:cNvSpPr txBox="1"/>
          <p:nvPr/>
        </p:nvSpPr>
        <p:spPr>
          <a:xfrm>
            <a:off x="10122408" y="2194560"/>
            <a:ext cx="1371600" cy="237744"/>
          </a:xfrm>
          <a:prstGeom prst="rect">
            <a:avLst/>
          </a:prstGeom>
          <a:noFill/>
          <a:ln/>
        </p:spPr>
        <p:txBody>
          <a:bodyPr wrap="square" lIns="0" tIns="0" rIns="0" bIns="0" rtlCol="0" anchor="ctr"/>
          <a:lstStyle/>
          <a:p>
            <a:pPr algn="ctr" indent="0" marL="0">
              <a:buNone/>
            </a:pPr>
            <a:r>
              <a:rPr lang="en-US" sz="1000" b="1" dirty="0">
                <a:solidFill>
                  <a:srgbClr val="8A94AB"/>
                </a:solidFill>
                <a:latin typeface="Courier New" pitchFamily="34" charset="0"/>
                <a:ea typeface="Courier New" pitchFamily="34" charset="-122"/>
                <a:cs typeface="Courier New" pitchFamily="34" charset="-120"/>
              </a:rPr>
              <a:t>07</a:t>
            </a:r>
            <a:endParaRPr lang="en-US" sz="1000" dirty="0"/>
          </a:p>
        </p:txBody>
      </p:sp>
      <p:pic>
        <p:nvPicPr>
          <p:cNvPr id="37" name="c6i" descr="/home/claude/build/img/ic_terminal_gr.png">    </p:cNvPr>
          <p:cNvPicPr>
            <a:picLocks noChangeAspect="1"/>
          </p:cNvPicPr>
          <p:nvPr/>
        </p:nvPicPr>
        <p:blipFill>
          <a:blip r:embed="rId8"/>
          <a:stretch>
            <a:fillRect/>
          </a:stretch>
        </p:blipFill>
        <p:spPr>
          <a:xfrm>
            <a:off x="10597896" y="2496312"/>
            <a:ext cx="420624" cy="420624"/>
          </a:xfrm>
          <a:prstGeom prst="rect">
            <a:avLst/>
          </a:prstGeom>
        </p:spPr>
      </p:pic>
      <p:sp>
        <p:nvSpPr>
          <p:cNvPr id="38" name="c6t"/>
          <p:cNvSpPr txBox="1"/>
          <p:nvPr/>
        </p:nvSpPr>
        <p:spPr>
          <a:xfrm>
            <a:off x="10177272" y="3090672"/>
            <a:ext cx="1261872" cy="914400"/>
          </a:xfrm>
          <a:prstGeom prst="rect">
            <a:avLst/>
          </a:prstGeom>
          <a:noFill/>
          <a:ln/>
        </p:spPr>
        <p:txBody>
          <a:bodyPr wrap="square" lIns="0" tIns="0" rIns="0" bIns="0" rtlCol="0" anchor="t"/>
          <a:lstStyle/>
          <a:p>
            <a:pPr algn="ctr" indent="0" marL="0">
              <a:lnSpc>
                <a:spcPct val="110000"/>
              </a:lnSpc>
              <a:spcBef>
                <a:spcPts val="400"/>
              </a:spcBef>
              <a:buNone/>
            </a:pPr>
            <a:r>
              <a:rPr lang="en-US" sz="1150" b="1" spc="80" kern="0" dirty="0">
                <a:solidFill>
                  <a:srgbClr val="E8ECF5"/>
                </a:solidFill>
                <a:latin typeface="Arial" pitchFamily="34" charset="0"/>
                <a:ea typeface="Arial" pitchFamily="34" charset="-122"/>
                <a:cs typeface="Arial" pitchFamily="34" charset="-120"/>
              </a:rPr>
              <a:t>GENERATE</a:t>
            </a:r>
            <a:endParaRPr lang="en-US" sz="1150" dirty="0"/>
          </a:p>
          <a:p>
            <a:pPr algn="ctr" indent="0" marL="0">
              <a:lnSpc>
                <a:spcPct val="110000"/>
              </a:lnSpc>
              <a:spcBef>
                <a:spcPts val="400"/>
              </a:spcBef>
              <a:buNone/>
            </a:pPr>
            <a:r>
              <a:rPr lang="en-US" sz="950" dirty="0">
                <a:solidFill>
                  <a:srgbClr val="8A94AB"/>
                </a:solidFill>
                <a:latin typeface="Arial" pitchFamily="34" charset="0"/>
                <a:ea typeface="Arial" pitchFamily="34" charset="-122"/>
                <a:cs typeface="Arial" pitchFamily="34" charset="-120"/>
              </a:rPr>
              <a:t>VS Code TSX</a:t>
            </a:r>
            <a:endParaRPr lang="en-US" sz="1150" dirty="0"/>
          </a:p>
        </p:txBody>
      </p:sp>
      <p:sp>
        <p:nvSpPr>
          <p:cNvPr id="39" name="band"/>
          <p:cNvSpPr/>
          <p:nvPr/>
        </p:nvSpPr>
        <p:spPr>
          <a:xfrm>
            <a:off x="685800" y="4224528"/>
            <a:ext cx="10817352" cy="1371600"/>
          </a:xfrm>
          <a:prstGeom prst="roundRect">
            <a:avLst>
              <a:gd name="adj" fmla="val 6000"/>
            </a:avLst>
          </a:prstGeom>
          <a:solidFill>
            <a:srgbClr val="121A2E">
              <a:alpha val="86000"/>
            </a:srgbClr>
          </a:solidFill>
          <a:ln w="12700">
            <a:solidFill>
              <a:srgbClr val="26314E"/>
            </a:solidFill>
            <a:prstDash val="solid"/>
          </a:ln>
        </p:spPr>
      </p:sp>
      <p:sp>
        <p:nvSpPr>
          <p:cNvPr id="40" name="m0"/>
          <p:cNvSpPr txBox="1"/>
          <p:nvPr/>
        </p:nvSpPr>
        <p:spPr>
          <a:xfrm>
            <a:off x="1097280" y="4498848"/>
            <a:ext cx="3200400" cy="566928"/>
          </a:xfrm>
          <a:prstGeom prst="rect">
            <a:avLst/>
          </a:prstGeom>
          <a:noFill/>
          <a:ln/>
        </p:spPr>
        <p:txBody>
          <a:bodyPr wrap="square" lIns="0" tIns="0" rIns="0" bIns="0" rtlCol="0" anchor="ctr"/>
          <a:lstStyle/>
          <a:p>
            <a:pPr algn="l" indent="0" marL="0">
              <a:buNone/>
            </a:pPr>
            <a:r>
              <a:rPr lang="en-US" sz="3400" b="1" dirty="0">
                <a:solidFill>
                  <a:srgbClr val="FF7A18"/>
                </a:solidFill>
                <a:latin typeface="Arial" pitchFamily="34" charset="0"/>
                <a:ea typeface="Arial" pitchFamily="34" charset="-122"/>
                <a:cs typeface="Arial" pitchFamily="34" charset="-120"/>
              </a:rPr>
              <a:t>8</a:t>
            </a:r>
            <a:endParaRPr lang="en-US" sz="3400" dirty="0"/>
          </a:p>
        </p:txBody>
      </p:sp>
      <p:sp>
        <p:nvSpPr>
          <p:cNvPr id="41" name="m0_l"/>
          <p:cNvSpPr txBox="1"/>
          <p:nvPr/>
        </p:nvSpPr>
        <p:spPr>
          <a:xfrm>
            <a:off x="1097280" y="5047488"/>
            <a:ext cx="320040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frames swept, rectified</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and fused on device</a:t>
            </a:r>
            <a:endParaRPr lang="en-US" sz="1100" dirty="0"/>
          </a:p>
        </p:txBody>
      </p:sp>
      <p:sp>
        <p:nvSpPr>
          <p:cNvPr id="42" name="m1"/>
          <p:cNvSpPr txBox="1"/>
          <p:nvPr/>
        </p:nvSpPr>
        <p:spPr>
          <a:xfrm>
            <a:off x="4617720" y="4498848"/>
            <a:ext cx="3200400" cy="566928"/>
          </a:xfrm>
          <a:prstGeom prst="rect">
            <a:avLst/>
          </a:prstGeom>
          <a:noFill/>
          <a:ln/>
        </p:spPr>
        <p:txBody>
          <a:bodyPr wrap="square" lIns="0" tIns="0" rIns="0" bIns="0" rtlCol="0" anchor="ctr"/>
          <a:lstStyle/>
          <a:p>
            <a:pPr algn="l" indent="0" marL="0">
              <a:buNone/>
            </a:pPr>
            <a:r>
              <a:rPr lang="en-US" sz="3400" b="1" dirty="0">
                <a:solidFill>
                  <a:srgbClr val="FF7A18"/>
                </a:solidFill>
                <a:latin typeface="Arial" pitchFamily="34" charset="0"/>
                <a:ea typeface="Arial" pitchFamily="34" charset="-122"/>
                <a:cs typeface="Arial" pitchFamily="34" charset="-120"/>
              </a:rPr>
              <a:t>500M</a:t>
            </a:r>
            <a:endParaRPr lang="en-US" sz="3400" dirty="0"/>
          </a:p>
        </p:txBody>
      </p:sp>
      <p:sp>
        <p:nvSpPr>
          <p:cNvPr id="43" name="m1_l"/>
          <p:cNvSpPr txBox="1"/>
          <p:nvPr/>
        </p:nvSpPr>
        <p:spPr>
          <a:xfrm>
            <a:off x="4617720" y="5047488"/>
            <a:ext cx="320040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parameter vision model</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quantised to INT4</a:t>
            </a:r>
            <a:endParaRPr lang="en-US" sz="1100" dirty="0"/>
          </a:p>
        </p:txBody>
      </p:sp>
      <p:sp>
        <p:nvSpPr>
          <p:cNvPr id="44" name="m2"/>
          <p:cNvSpPr txBox="1"/>
          <p:nvPr/>
        </p:nvSpPr>
        <p:spPr>
          <a:xfrm>
            <a:off x="8138160" y="4498848"/>
            <a:ext cx="3200400" cy="566928"/>
          </a:xfrm>
          <a:prstGeom prst="rect">
            <a:avLst/>
          </a:prstGeom>
          <a:noFill/>
          <a:ln/>
        </p:spPr>
        <p:txBody>
          <a:bodyPr wrap="square" lIns="0" tIns="0" rIns="0" bIns="0" rtlCol="0" anchor="ctr"/>
          <a:lstStyle/>
          <a:p>
            <a:pPr algn="l" indent="0" marL="0">
              <a:buNone/>
            </a:pPr>
            <a:r>
              <a:rPr lang="en-US" sz="3400" b="1" dirty="0">
                <a:solidFill>
                  <a:srgbClr val="22D3EE"/>
                </a:solidFill>
                <a:latin typeface="Arial" pitchFamily="34" charset="0"/>
                <a:ea typeface="Arial" pitchFamily="34" charset="-122"/>
                <a:cs typeface="Arial" pitchFamily="34" charset="-120"/>
              </a:rPr>
              <a:t>0</a:t>
            </a:r>
            <a:endParaRPr lang="en-US" sz="3400" dirty="0"/>
          </a:p>
        </p:txBody>
      </p:sp>
      <p:sp>
        <p:nvSpPr>
          <p:cNvPr id="45" name="m2_l"/>
          <p:cNvSpPr txBox="1"/>
          <p:nvPr/>
        </p:nvSpPr>
        <p:spPr>
          <a:xfrm>
            <a:off x="8138160" y="5047488"/>
            <a:ext cx="320040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bytes transmitted</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to any network</a:t>
            </a:r>
            <a:endParaRPr lang="en-US" sz="1100" dirty="0"/>
          </a:p>
        </p:txBody>
      </p:sp>
      <p:sp>
        <p:nvSpPr>
          <p:cNvPr id="46" name="note"/>
          <p:cNvSpPr txBox="1"/>
          <p:nvPr/>
        </p:nvSpPr>
        <p:spPr>
          <a:xfrm>
            <a:off x="685800" y="5852160"/>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Eight frames in. One deterministic JSON layout out. Nothing ever leaves the handset.</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Scale>
                                      <p:cBhvr>
                                        <p:cTn id="15" dur="350" fill="hold"/>
                                        <p:tgtEl>
                                          <p:spTgt spid="5"/>
                                        </p:tgtEl>
                                      </p:cBhvr>
                                      <p:from x="62000" y="62000"/>
                                      <p:to x="100000" y="100000"/>
                                    </p:animScale>
                                  </p:childTnLst>
                                </p:cTn>
                              </p:par>
                              <p:par>
                                <p:cTn id="16" presetID="10" presetClass="entr" presetSubtype="0" fill="hold" grpId="0" nodeType="withEffect">
                                  <p:stCondLst>
                                    <p:cond delay="6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p:tgtEl>
                                          <p:spTgt spid="6"/>
                                        </p:tgtEl>
                                      </p:cBhvr>
                                    </p:animEffect>
                                  </p:childTnLst>
                                </p:cTn>
                              </p:par>
                              <p:par>
                                <p:cTn id="19" presetID="10" presetClass="entr" presetSubtype="0" fill="hold" grpId="0" nodeType="withEffect">
                                  <p:stCondLst>
                                    <p:cond delay="1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1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childTnLst>
                                </p:cTn>
                              </p:par>
                            </p:childTnLst>
                          </p:cTn>
                        </p:par>
                      </p:childTnLst>
                    </p:cTn>
                  </p:par>
                  <p:par>
                    <p:cTn id="43" fill="hold">
                      <p:stCondLst>
                        <p:cond delay="indefinite"/>
                      </p:stCondLst>
                      <p:childTnLst>
                        <p:par>
                          <p:cTn id="4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50"/>
                                        <p:tgtEl>
                                          <p:spTgt spid="9"/>
                                        </p:tgtEl>
                                      </p:cBhvr>
                                    </p:animEffect>
                                  </p:childTnLst>
                                </p:cTn>
                              </p:par>
                              <p:par>
                                <p:cTn id="30" presetID="2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animScale>
                                      <p:cBhvr>
                                        <p:cTn id="33" dur="350" fill="hold"/>
                                        <p:tgtEl>
                                          <p:spTgt spid="10"/>
                                        </p:tgtEl>
                                      </p:cBhvr>
                                      <p:from x="62000" y="62000"/>
                                      <p:to x="100000" y="100000"/>
                                    </p:animScale>
                                  </p:childTnLst>
                                </p:cTn>
                              </p:par>
                              <p:par>
                                <p:cTn id="34" presetID="10" presetClass="entr" presetSubtype="0" fill="hold" grpId="0" nodeType="withEffect">
                                  <p:stCondLst>
                                    <p:cond delay="6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00"/>
                                        <p:tgtEl>
                                          <p:spTgt spid="11"/>
                                        </p:tgtEl>
                                      </p:cBhvr>
                                    </p:animEffect>
                                  </p:childTnLst>
                                </p:cTn>
                              </p:par>
                              <p:par>
                                <p:cTn id="37" presetID="10" presetClass="entr" presetSubtype="0" fill="hold" grpId="0" nodeType="withEffect">
                                  <p:stCondLst>
                                    <p:cond delay="1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00"/>
                                        <p:tgtEl>
                                          <p:spTgt spid="12"/>
                                        </p:tgtEl>
                                      </p:cBhvr>
                                    </p:animEffect>
                                  </p:childTnLst>
                                </p:cTn>
                              </p:par>
                              <p:par>
                                <p:cTn id="40" presetID="10" presetClass="entr" presetSubtype="0" fill="hold" grpId="0" nodeType="withEffect">
                                  <p:stCondLst>
                                    <p:cond delay="1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50"/>
                                        <p:tgtEl>
                                          <p:spTgt spid="13"/>
                                        </p:tgtEl>
                                      </p:cBhvr>
                                    </p:animEffect>
                                  </p:childTnLst>
                                </p:cTn>
                              </p:par>
                            </p:childTnLst>
                          </p:cTn>
                        </p:par>
                      </p:childTnLst>
                    </p:cTn>
                  </p:par>
                  <p:par>
                    <p:cTn id="61" fill="hold">
                      <p:stCondLst>
                        <p:cond delay="indefinite"/>
                      </p:stCondLst>
                      <p:childTnLst>
                        <p:par>
                          <p:cTn id="62"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250"/>
                                        <p:tgtEl>
                                          <p:spTgt spid="14"/>
                                        </p:tgtEl>
                                      </p:cBhvr>
                                    </p:animEffect>
                                  </p:childTnLst>
                                </p:cTn>
                              </p:par>
                              <p:par>
                                <p:cTn id="48" presetID="23" presetClass="entr" presetSubtype="16"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animScale>
                                      <p:cBhvr>
                                        <p:cTn id="51" dur="350" fill="hold"/>
                                        <p:tgtEl>
                                          <p:spTgt spid="15"/>
                                        </p:tgtEl>
                                      </p:cBhvr>
                                      <p:from x="62000" y="62000"/>
                                      <p:to x="100000" y="100000"/>
                                    </p:animScale>
                                  </p:childTnLst>
                                </p:cTn>
                              </p:par>
                              <p:par>
                                <p:cTn id="52" presetID="10" presetClass="entr" presetSubtype="0" fill="hold" grpId="0" nodeType="withEffect">
                                  <p:stCondLst>
                                    <p:cond delay="6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300"/>
                                        <p:tgtEl>
                                          <p:spTgt spid="16"/>
                                        </p:tgtEl>
                                      </p:cBhvr>
                                    </p:animEffect>
                                  </p:childTnLst>
                                </p:cTn>
                              </p:par>
                              <p:par>
                                <p:cTn id="55" presetID="10" presetClass="entr" presetSubtype="0" fill="hold" grpId="0" nodeType="withEffect">
                                  <p:stCondLst>
                                    <p:cond delay="1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300"/>
                                        <p:tgtEl>
                                          <p:spTgt spid="17"/>
                                        </p:tgtEl>
                                      </p:cBhvr>
                                    </p:animEffect>
                                  </p:childTnLst>
                                </p:cTn>
                              </p:par>
                              <p:par>
                                <p:cTn id="58" presetID="10" presetClass="entr" presetSubtype="0" fill="hold" grpId="0" nodeType="withEffect">
                                  <p:stCondLst>
                                    <p:cond delay="15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350"/>
                                        <p:tgtEl>
                                          <p:spTgt spid="18"/>
                                        </p:tgtEl>
                                      </p:cBhvr>
                                    </p:animEffect>
                                  </p:childTnLst>
                                </p:cTn>
                              </p:par>
                            </p:childTnLst>
                          </p:cTn>
                        </p:par>
                      </p:childTnLst>
                    </p:cTn>
                  </p:par>
                  <p:par>
                    <p:cTn id="79" fill="hold">
                      <p:stCondLst>
                        <p:cond delay="indefinite"/>
                      </p:stCondLst>
                      <p:childTnLst>
                        <p:par>
                          <p:cTn id="80"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250"/>
                                        <p:tgtEl>
                                          <p:spTgt spid="19"/>
                                        </p:tgtEl>
                                      </p:cBhvr>
                                    </p:animEffect>
                                  </p:childTnLst>
                                </p:cTn>
                              </p:par>
                              <p:par>
                                <p:cTn id="66" presetID="23" presetClass="entr" presetSubtype="16"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350"/>
                                        <p:tgtEl>
                                          <p:spTgt spid="20"/>
                                        </p:tgtEl>
                                      </p:cBhvr>
                                    </p:animEffect>
                                    <p:animScale>
                                      <p:cBhvr>
                                        <p:cTn id="69" dur="350" fill="hold"/>
                                        <p:tgtEl>
                                          <p:spTgt spid="20"/>
                                        </p:tgtEl>
                                      </p:cBhvr>
                                      <p:from x="62000" y="62000"/>
                                      <p:to x="100000" y="100000"/>
                                    </p:animScale>
                                  </p:childTnLst>
                                </p:cTn>
                              </p:par>
                              <p:par>
                                <p:cTn id="70" presetID="10" presetClass="entr" presetSubtype="0" fill="hold" grpId="0" nodeType="withEffect">
                                  <p:stCondLst>
                                    <p:cond delay="6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300"/>
                                        <p:tgtEl>
                                          <p:spTgt spid="21"/>
                                        </p:tgtEl>
                                      </p:cBhvr>
                                    </p:animEffect>
                                  </p:childTnLst>
                                </p:cTn>
                              </p:par>
                              <p:par>
                                <p:cTn id="73" presetID="10" presetClass="entr" presetSubtype="0" fill="hold" grpId="0" nodeType="withEffect">
                                  <p:stCondLst>
                                    <p:cond delay="1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300"/>
                                        <p:tgtEl>
                                          <p:spTgt spid="22"/>
                                        </p:tgtEl>
                                      </p:cBhvr>
                                    </p:animEffect>
                                  </p:childTnLst>
                                </p:cTn>
                              </p:par>
                              <p:par>
                                <p:cTn id="76" presetID="10" presetClass="entr" presetSubtype="0" fill="hold" grpId="0" nodeType="withEffect">
                                  <p:stCondLst>
                                    <p:cond delay="15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350"/>
                                        <p:tgtEl>
                                          <p:spTgt spid="23"/>
                                        </p:tgtEl>
                                      </p:cBhvr>
                                    </p:animEffect>
                                  </p:childTnLst>
                                </p:cTn>
                              </p:par>
                            </p:childTnLst>
                          </p:cTn>
                        </p:par>
                      </p:childTnLst>
                    </p:cTn>
                  </p:par>
                  <p:par>
                    <p:cTn id="97" fill="hold">
                      <p:stCondLst>
                        <p:cond delay="indefinite"/>
                      </p:stCondLst>
                      <p:childTnLst>
                        <p:par>
                          <p:cTn id="98"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250"/>
                                        <p:tgtEl>
                                          <p:spTgt spid="24"/>
                                        </p:tgtEl>
                                      </p:cBhvr>
                                    </p:animEffect>
                                  </p:childTnLst>
                                </p:cTn>
                              </p:par>
                              <p:par>
                                <p:cTn id="84" presetID="23" presetClass="entr" presetSubtype="16"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350"/>
                                        <p:tgtEl>
                                          <p:spTgt spid="25"/>
                                        </p:tgtEl>
                                      </p:cBhvr>
                                    </p:animEffect>
                                    <p:animScale>
                                      <p:cBhvr>
                                        <p:cTn id="87" dur="350" fill="hold"/>
                                        <p:tgtEl>
                                          <p:spTgt spid="25"/>
                                        </p:tgtEl>
                                      </p:cBhvr>
                                      <p:from x="62000" y="62000"/>
                                      <p:to x="100000" y="100000"/>
                                    </p:animScale>
                                  </p:childTnLst>
                                </p:cTn>
                              </p:par>
                              <p:par>
                                <p:cTn id="88" presetID="10" presetClass="entr" presetSubtype="0" fill="hold" grpId="0" nodeType="withEffect">
                                  <p:stCondLst>
                                    <p:cond delay="6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300"/>
                                        <p:tgtEl>
                                          <p:spTgt spid="26"/>
                                        </p:tgtEl>
                                      </p:cBhvr>
                                    </p:animEffect>
                                  </p:childTnLst>
                                </p:cTn>
                              </p:par>
                              <p:par>
                                <p:cTn id="91" presetID="10" presetClass="entr" presetSubtype="0" fill="hold" grpId="0" nodeType="withEffect">
                                  <p:stCondLst>
                                    <p:cond delay="10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300"/>
                                        <p:tgtEl>
                                          <p:spTgt spid="27"/>
                                        </p:tgtEl>
                                      </p:cBhvr>
                                    </p:animEffect>
                                  </p:childTnLst>
                                </p:cTn>
                              </p:par>
                              <p:par>
                                <p:cTn id="94" presetID="10" presetClass="entr" presetSubtype="0" fill="hold" grpId="0" nodeType="withEffect">
                                  <p:stCondLst>
                                    <p:cond delay="15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350"/>
                                        <p:tgtEl>
                                          <p:spTgt spid="28"/>
                                        </p:tgtEl>
                                      </p:cBhvr>
                                    </p:animEffect>
                                  </p:childTnLst>
                                </p:cTn>
                              </p:par>
                            </p:childTnLst>
                          </p:cTn>
                        </p:par>
                      </p:childTnLst>
                    </p:cTn>
                  </p:par>
                  <p:par>
                    <p:cTn id="115" fill="hold">
                      <p:stCondLst>
                        <p:cond delay="indefinite"/>
                      </p:stCondLst>
                      <p:childTnLst>
                        <p:par>
                          <p:cTn id="116"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250"/>
                                        <p:tgtEl>
                                          <p:spTgt spid="29"/>
                                        </p:tgtEl>
                                      </p:cBhvr>
                                    </p:animEffect>
                                  </p:childTnLst>
                                </p:cTn>
                              </p:par>
                              <p:par>
                                <p:cTn id="102" presetID="23" presetClass="entr" presetSubtype="16" fill="hold" grpId="0" nodeType="with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350"/>
                                        <p:tgtEl>
                                          <p:spTgt spid="30"/>
                                        </p:tgtEl>
                                      </p:cBhvr>
                                    </p:animEffect>
                                    <p:animScale>
                                      <p:cBhvr>
                                        <p:cTn id="105" dur="350" fill="hold"/>
                                        <p:tgtEl>
                                          <p:spTgt spid="30"/>
                                        </p:tgtEl>
                                      </p:cBhvr>
                                      <p:from x="62000" y="62000"/>
                                      <p:to x="100000" y="100000"/>
                                    </p:animScale>
                                  </p:childTnLst>
                                </p:cTn>
                              </p:par>
                              <p:par>
                                <p:cTn id="106" presetID="10" presetClass="entr" presetSubtype="0" fill="hold" grpId="0" nodeType="withEffect">
                                  <p:stCondLst>
                                    <p:cond delay="6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300"/>
                                        <p:tgtEl>
                                          <p:spTgt spid="31"/>
                                        </p:tgtEl>
                                      </p:cBhvr>
                                    </p:animEffect>
                                  </p:childTnLst>
                                </p:cTn>
                              </p:par>
                              <p:par>
                                <p:cTn id="109" presetID="10" presetClass="entr" presetSubtype="0" fill="hold" grpId="0" nodeType="withEffect">
                                  <p:stCondLst>
                                    <p:cond delay="10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300"/>
                                        <p:tgtEl>
                                          <p:spTgt spid="32"/>
                                        </p:tgtEl>
                                      </p:cBhvr>
                                    </p:animEffect>
                                  </p:childTnLst>
                                </p:cTn>
                              </p:par>
                              <p:par>
                                <p:cTn id="112" presetID="10" presetClass="entr" presetSubtype="0" fill="hold" grpId="0" nodeType="withEffect">
                                  <p:stCondLst>
                                    <p:cond delay="15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35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fade">
                                      <p:cBhvr>
                                        <p:cTn id="119" dur="250"/>
                                        <p:tgtEl>
                                          <p:spTgt spid="34"/>
                                        </p:tgtEl>
                                      </p:cBhvr>
                                    </p:animEffect>
                                  </p:childTnLst>
                                </p:cTn>
                              </p:par>
                              <p:par>
                                <p:cTn id="120" presetID="23" presetClass="entr" presetSubtype="16" fill="hold" grpId="0" nodeType="with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fade">
                                      <p:cBhvr>
                                        <p:cTn id="122" dur="350"/>
                                        <p:tgtEl>
                                          <p:spTgt spid="35"/>
                                        </p:tgtEl>
                                      </p:cBhvr>
                                    </p:animEffect>
                                    <p:animScale>
                                      <p:cBhvr>
                                        <p:cTn id="123" dur="350" fill="hold"/>
                                        <p:tgtEl>
                                          <p:spTgt spid="35"/>
                                        </p:tgtEl>
                                      </p:cBhvr>
                                      <p:from x="62000" y="62000"/>
                                      <p:to x="100000" y="100000"/>
                                    </p:animScale>
                                  </p:childTnLst>
                                </p:cTn>
                              </p:par>
                              <p:par>
                                <p:cTn id="124" presetID="10" presetClass="entr" presetSubtype="0" fill="hold" grpId="0" nodeType="withEffect">
                                  <p:stCondLst>
                                    <p:cond delay="6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300"/>
                                        <p:tgtEl>
                                          <p:spTgt spid="36"/>
                                        </p:tgtEl>
                                      </p:cBhvr>
                                    </p:animEffect>
                                  </p:childTnLst>
                                </p:cTn>
                              </p:par>
                              <p:par>
                                <p:cTn id="127" presetID="10" presetClass="entr" presetSubtype="0" fill="hold" grpId="0" nodeType="withEffect">
                                  <p:stCondLst>
                                    <p:cond delay="10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300"/>
                                        <p:tgtEl>
                                          <p:spTgt spid="37"/>
                                        </p:tgtEl>
                                      </p:cBhvr>
                                    </p:animEffect>
                                  </p:childTnLst>
                                </p:cTn>
                              </p:par>
                              <p:par>
                                <p:cTn id="130" presetID="10" presetClass="entr" presetSubtype="0" fill="hold" grpId="0" nodeType="withEffect">
                                  <p:stCondLst>
                                    <p:cond delay="15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2" dur="350"/>
                                        <p:tgtEl>
                                          <p:spTgt spid="38"/>
                                        </p:tgtEl>
                                      </p:cBhvr>
                                    </p:animEffect>
                                  </p:childTnLst>
                                </p:cTn>
                              </p:par>
                            </p:childTnLst>
                          </p:cTn>
                        </p:par>
                      </p:childTnLst>
                    </p:cTn>
                  </p:par>
                  <p:par>
                    <p:cTn id="159" fill="hold">
                      <p:stCondLst>
                        <p:cond delay="indefinite"/>
                      </p:stCondLst>
                      <p:childTnLst>
                        <p:par>
                          <p:cTn id="160"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39"/>
                                        </p:tgtEl>
                                        <p:attrNameLst>
                                          <p:attrName>style.visibility</p:attrName>
                                        </p:attrNameLst>
                                      </p:cBhvr>
                                      <p:to>
                                        <p:strVal val="visible"/>
                                      </p:to>
                                    </p:set>
                                    <p:animEffect transition="in" filter="wipe(right)">
                                      <p:cBhvr>
                                        <p:cTn id="137" dur="600"/>
                                        <p:tgtEl>
                                          <p:spTgt spid="39"/>
                                        </p:tgtEl>
                                      </p:cBhvr>
                                    </p:animEffect>
                                  </p:childTnLst>
                                </p:cTn>
                              </p:par>
                              <p:par>
                                <p:cTn id="138" presetID="42" presetClass="entr" presetSubtype="4" fill="hold" grpId="0" nodeType="withEffect">
                                  <p:stCondLst>
                                    <p:cond delay="150"/>
                                  </p:stCondLst>
                                  <p:childTnLst>
                                    <p:set>
                                      <p:cBhvr>
                                        <p:cTn id="139" dur="1" fill="hold">
                                          <p:stCondLst>
                                            <p:cond delay="0"/>
                                          </p:stCondLst>
                                        </p:cTn>
                                        <p:tgtEl>
                                          <p:spTgt spid="40"/>
                                        </p:tgtEl>
                                        <p:attrNameLst>
                                          <p:attrName>style.visibility</p:attrName>
                                        </p:attrNameLst>
                                      </p:cBhvr>
                                      <p:to>
                                        <p:strVal val="visible"/>
                                      </p:to>
                                    </p:set>
                                    <p:animEffect transition="in" filter="fade">
                                      <p:cBhvr>
                                        <p:cTn id="140" dur="450"/>
                                        <p:tgtEl>
                                          <p:spTgt spid="40"/>
                                        </p:tgtEl>
                                      </p:cBhvr>
                                    </p:animEffect>
                                    <p:anim calcmode="lin" valueType="num">
                                      <p:cBhvr additive="base">
                                        <p:cTn id="141" dur="450" fill="hold"/>
                                        <p:tgtEl>
                                          <p:spTgt spid="40"/>
                                        </p:tgtEl>
                                        <p:attrNameLst>
                                          <p:attrName>ppt_y</p:attrName>
                                        </p:attrNameLst>
                                      </p:cBhvr>
                                      <p:tavLst>
                                        <p:tav tm="0">
                                          <p:val>
                                            <p:strVal val="#ppt_y+0.045"/>
                                          </p:val>
                                        </p:tav>
                                        <p:tav tm="100000">
                                          <p:val>
                                            <p:strVal val="#ppt_y"/>
                                          </p:val>
                                        </p:tav>
                                      </p:tavLst>
                                    </p:anim>
                                  </p:childTnLst>
                                </p:cTn>
                              </p:par>
                              <p:par>
                                <p:cTn id="142" presetID="10" presetClass="entr" presetSubtype="0" fill="hold" grpId="0" nodeType="withEffect">
                                  <p:stCondLst>
                                    <p:cond delay="250"/>
                                  </p:stCondLst>
                                  <p:childTnLst>
                                    <p:set>
                                      <p:cBhvr>
                                        <p:cTn id="143" dur="1" fill="hold">
                                          <p:stCondLst>
                                            <p:cond delay="0"/>
                                          </p:stCondLst>
                                        </p:cTn>
                                        <p:tgtEl>
                                          <p:spTgt spid="41"/>
                                        </p:tgtEl>
                                        <p:attrNameLst>
                                          <p:attrName>style.visibility</p:attrName>
                                        </p:attrNameLst>
                                      </p:cBhvr>
                                      <p:to>
                                        <p:strVal val="visible"/>
                                      </p:to>
                                    </p:set>
                                    <p:animEffect transition="in" filter="fade">
                                      <p:cBhvr>
                                        <p:cTn id="144" dur="400"/>
                                        <p:tgtEl>
                                          <p:spTgt spid="41"/>
                                        </p:tgtEl>
                                      </p:cBhvr>
                                    </p:animEffect>
                                  </p:childTnLst>
                                </p:cTn>
                              </p:par>
                              <p:par>
                                <p:cTn id="145" presetID="42" presetClass="entr" presetSubtype="4" fill="hold" grpId="0" nodeType="withEffect">
                                  <p:stCondLst>
                                    <p:cond delay="400"/>
                                  </p:stCondLst>
                                  <p:childTnLst>
                                    <p:set>
                                      <p:cBhvr>
                                        <p:cTn id="146" dur="1" fill="hold">
                                          <p:stCondLst>
                                            <p:cond delay="0"/>
                                          </p:stCondLst>
                                        </p:cTn>
                                        <p:tgtEl>
                                          <p:spTgt spid="42"/>
                                        </p:tgtEl>
                                        <p:attrNameLst>
                                          <p:attrName>style.visibility</p:attrName>
                                        </p:attrNameLst>
                                      </p:cBhvr>
                                      <p:to>
                                        <p:strVal val="visible"/>
                                      </p:to>
                                    </p:set>
                                    <p:animEffect transition="in" filter="fade">
                                      <p:cBhvr>
                                        <p:cTn id="147" dur="450"/>
                                        <p:tgtEl>
                                          <p:spTgt spid="42"/>
                                        </p:tgtEl>
                                      </p:cBhvr>
                                    </p:animEffect>
                                    <p:anim calcmode="lin" valueType="num">
                                      <p:cBhvr additive="base">
                                        <p:cTn id="148" dur="450" fill="hold"/>
                                        <p:tgtEl>
                                          <p:spTgt spid="42"/>
                                        </p:tgtEl>
                                        <p:attrNameLst>
                                          <p:attrName>ppt_y</p:attrName>
                                        </p:attrNameLst>
                                      </p:cBhvr>
                                      <p:tavLst>
                                        <p:tav tm="0">
                                          <p:val>
                                            <p:strVal val="#ppt_y+0.045"/>
                                          </p:val>
                                        </p:tav>
                                        <p:tav tm="100000">
                                          <p:val>
                                            <p:strVal val="#ppt_y"/>
                                          </p:val>
                                        </p:tav>
                                      </p:tavLst>
                                    </p:anim>
                                  </p:childTnLst>
                                </p:cTn>
                              </p:par>
                              <p:par>
                                <p:cTn id="149" presetID="10" presetClass="entr" presetSubtype="0" fill="hold" grpId="0" nodeType="withEffect">
                                  <p:stCondLst>
                                    <p:cond delay="50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400"/>
                                        <p:tgtEl>
                                          <p:spTgt spid="43"/>
                                        </p:tgtEl>
                                      </p:cBhvr>
                                    </p:animEffect>
                                  </p:childTnLst>
                                </p:cTn>
                              </p:par>
                              <p:par>
                                <p:cTn id="152" presetID="42" presetClass="entr" presetSubtype="4" fill="hold" grpId="0" nodeType="withEffect">
                                  <p:stCondLst>
                                    <p:cond delay="65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4" dur="450"/>
                                        <p:tgtEl>
                                          <p:spTgt spid="44"/>
                                        </p:tgtEl>
                                      </p:cBhvr>
                                    </p:animEffect>
                                    <p:anim calcmode="lin" valueType="num">
                                      <p:cBhvr additive="base">
                                        <p:cTn id="155" dur="450" fill="hold"/>
                                        <p:tgtEl>
                                          <p:spTgt spid="44"/>
                                        </p:tgtEl>
                                        <p:attrNameLst>
                                          <p:attrName>ppt_y</p:attrName>
                                        </p:attrNameLst>
                                      </p:cBhvr>
                                      <p:tavLst>
                                        <p:tav tm="0">
                                          <p:val>
                                            <p:strVal val="#ppt_y+0.045"/>
                                          </p:val>
                                        </p:tav>
                                        <p:tav tm="100000">
                                          <p:val>
                                            <p:strVal val="#ppt_y"/>
                                          </p:val>
                                        </p:tav>
                                      </p:tavLst>
                                    </p:anim>
                                  </p:childTnLst>
                                </p:cTn>
                              </p:par>
                              <p:par>
                                <p:cTn id="156" presetID="10" presetClass="entr" presetSubtype="0" fill="hold" grpId="0" nodeType="withEffect">
                                  <p:stCondLst>
                                    <p:cond delay="750"/>
                                  </p:stCondLst>
                                  <p:childTnLst>
                                    <p:set>
                                      <p:cBhvr>
                                        <p:cTn id="157" dur="1" fill="hold">
                                          <p:stCondLst>
                                            <p:cond delay="0"/>
                                          </p:stCondLst>
                                        </p:cTn>
                                        <p:tgtEl>
                                          <p:spTgt spid="45"/>
                                        </p:tgtEl>
                                        <p:attrNameLst>
                                          <p:attrName>style.visibility</p:attrName>
                                        </p:attrNameLst>
                                      </p:cBhvr>
                                      <p:to>
                                        <p:strVal val="visible"/>
                                      </p:to>
                                    </p:set>
                                    <p:animEffect transition="in" filter="fade">
                                      <p:cBhvr>
                                        <p:cTn id="158" dur="400"/>
                                        <p:tgtEl>
                                          <p:spTgt spid="45"/>
                                        </p:tgtEl>
                                      </p:cBhvr>
                                    </p:animEffect>
                                  </p:childTnLst>
                                </p:cTn>
                              </p:par>
                            </p:childTnLst>
                          </p:cTn>
                        </p:par>
                      </p:childTnLst>
                    </p:cTn>
                  </p:par>
                  <p:par>
                    <p:cTn id="164" fill="hold">
                      <p:stCondLst>
                        <p:cond delay="indefinite"/>
                      </p:stCondLst>
                      <p:childTnLst>
                        <p:par>
                          <p:cTn id="165"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46"/>
                                        </p:tgtEl>
                                        <p:attrNameLst>
                                          <p:attrName>style.visibility</p:attrName>
                                        </p:attrNameLst>
                                      </p:cBhvr>
                                      <p:to>
                                        <p:strVal val="visible"/>
                                      </p:to>
                                    </p:set>
                                    <p:animEffect transition="in" filter="wipe(right)">
                                      <p:cBhvr>
                                        <p:cTn id="163" dur="7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INNOVATION</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The model never writes your </a:t>
            </a:r>
            <a:pPr algn="l" indent="0" marL="0">
              <a:buNone/>
            </a:pPr>
            <a:r>
              <a:rPr lang="en-US" sz="3300" b="1" dirty="0">
                <a:solidFill>
                  <a:srgbClr val="FF7A18"/>
                </a:solidFill>
                <a:latin typeface="Arial" pitchFamily="34" charset="0"/>
                <a:ea typeface="Arial" pitchFamily="34" charset="-122"/>
                <a:cs typeface="Arial" pitchFamily="34" charset="-120"/>
              </a:rPr>
              <a:t>code.</a:t>
            </a:r>
            <a:endParaRPr lang="en-US" sz="3300" dirty="0"/>
          </a:p>
        </p:txBody>
      </p:sp>
      <p:sp>
        <p:nvSpPr>
          <p:cNvPr id="5" name="sub"/>
          <p:cNvSpPr txBox="1"/>
          <p:nvPr/>
        </p:nvSpPr>
        <p:spPr>
          <a:xfrm>
            <a:off x="685800" y="1444752"/>
            <a:ext cx="10515600" cy="310896"/>
          </a:xfrm>
          <a:prstGeom prst="rect">
            <a:avLst/>
          </a:prstGeom>
          <a:noFill/>
          <a:ln/>
        </p:spPr>
        <p:txBody>
          <a:bodyPr wrap="square" lIns="0" tIns="0" rIns="0" bIns="0" rtlCol="0" anchor="ctr"/>
          <a:lstStyle/>
          <a:p>
            <a:pPr algn="l" indent="0" marL="0">
              <a:buNone/>
            </a:pPr>
            <a:r>
              <a:rPr lang="en-US" sz="1450" dirty="0">
                <a:solidFill>
                  <a:srgbClr val="8A94AB"/>
                </a:solidFill>
                <a:latin typeface="Arial" pitchFamily="34" charset="0"/>
                <a:ea typeface="Arial" pitchFamily="34" charset="-122"/>
                <a:cs typeface="Arial" pitchFamily="34" charset="-120"/>
              </a:rPr>
              <a:t>Grammar-constrained decoding forces the NPU to emit a schema. A deterministic renderer does the rest.</a:t>
            </a:r>
            <a:endParaRPr lang="en-US" sz="1450" dirty="0"/>
          </a:p>
        </p:txBody>
      </p:sp>
      <p:pic>
        <p:nvPicPr>
          <p:cNvPr id="6" name="bad" descr="/home/claude/build/img/code_bad.png">    </p:cNvPr>
          <p:cNvPicPr>
            <a:picLocks noChangeAspect="1"/>
          </p:cNvPicPr>
          <p:nvPr/>
        </p:nvPicPr>
        <p:blipFill>
          <a:blip r:embed="rId2"/>
          <a:stretch>
            <a:fillRect/>
          </a:stretch>
        </p:blipFill>
        <p:spPr>
          <a:xfrm>
            <a:off x="685800" y="2103120"/>
            <a:ext cx="5029200" cy="3328416"/>
          </a:xfrm>
          <a:prstGeom prst="rect">
            <a:avLst/>
          </a:prstGeom>
        </p:spPr>
      </p:pic>
      <p:pic>
        <p:nvPicPr>
          <p:cNvPr id="7" name="good" descr="/home/claude/build/img/code_good.png">    </p:cNvPr>
          <p:cNvPicPr>
            <a:picLocks noChangeAspect="1"/>
          </p:cNvPicPr>
          <p:nvPr/>
        </p:nvPicPr>
        <p:blipFill>
          <a:blip r:embed="rId3"/>
          <a:stretch>
            <a:fillRect/>
          </a:stretch>
        </p:blipFill>
        <p:spPr>
          <a:xfrm>
            <a:off x="6473952" y="2103120"/>
            <a:ext cx="5029200" cy="3328416"/>
          </a:xfrm>
          <a:prstGeom prst="rect">
            <a:avLst/>
          </a:prstGeom>
        </p:spPr>
      </p:pic>
      <p:sp>
        <p:nvSpPr>
          <p:cNvPr id="8" name="arw"/>
          <p:cNvSpPr txBox="1"/>
          <p:nvPr/>
        </p:nvSpPr>
        <p:spPr>
          <a:xfrm>
            <a:off x="5715000" y="3520440"/>
            <a:ext cx="758952" cy="457200"/>
          </a:xfrm>
          <a:prstGeom prst="rect">
            <a:avLst/>
          </a:prstGeom>
          <a:noFill/>
          <a:ln/>
        </p:spPr>
        <p:txBody>
          <a:bodyPr wrap="square" lIns="0" tIns="0" rIns="0" bIns="0" rtlCol="0" anchor="ctr"/>
          <a:lstStyle/>
          <a:p>
            <a:pPr algn="ctr" indent="0" marL="0">
              <a:buNone/>
            </a:pPr>
            <a:r>
              <a:rPr lang="en-US" sz="2600" b="1" dirty="0">
                <a:solidFill>
                  <a:srgbClr val="FF7A18"/>
                </a:solidFill>
                <a:latin typeface="Arial" pitchFamily="34" charset="0"/>
                <a:ea typeface="Arial" pitchFamily="34" charset="-122"/>
                <a:cs typeface="Arial" pitchFamily="34" charset="-120"/>
              </a:rPr>
              <a:t>→</a:t>
            </a:r>
            <a:endParaRPr lang="en-US" sz="2600" dirty="0"/>
          </a:p>
        </p:txBody>
      </p:sp>
      <p:sp>
        <p:nvSpPr>
          <p:cNvPr id="9" name="note"/>
          <p:cNvSpPr txBox="1"/>
          <p:nvPr/>
        </p:nvSpPr>
        <p:spPr>
          <a:xfrm>
            <a:off x="685800" y="5669280"/>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Hallucination becomes structurally impossible — the decoder can only emit tokens the grammar allows.</a:t>
            </a:r>
            <a:endParaRPr lang="en-US" sz="1250" dirty="0"/>
          </a:p>
        </p:txBody>
      </p:sp>
      <p:sp>
        <p:nvSpPr>
          <p:cNvPr id="10" name="note2"/>
          <p:cNvSpPr txBox="1"/>
          <p:nvPr/>
        </p:nvSpPr>
        <p:spPr>
          <a:xfrm>
            <a:off x="685800" y="6053328"/>
            <a:ext cx="10817352" cy="347472"/>
          </a:xfrm>
          <a:prstGeom prst="rect">
            <a:avLst/>
          </a:prstGeom>
          <a:noFill/>
          <a:ln/>
        </p:spPr>
        <p:txBody>
          <a:bodyPr wrap="square" lIns="0" tIns="0" rIns="0" bIns="0" rtlCol="0" anchor="ctr"/>
          <a:lstStyle/>
          <a:p>
            <a:pPr indent="0" marL="0">
              <a:buNone/>
            </a:pPr>
            <a:r>
              <a:rPr lang="en-US" sz="1250" dirty="0">
                <a:solidFill>
                  <a:srgbClr val="8A94AB"/>
                </a:solidFill>
                <a:latin typeface="Arial" pitchFamily="34" charset="0"/>
                <a:ea typeface="Arial" pitchFamily="34" charset="-122"/>
                <a:cs typeface="Arial" pitchFamily="34" charset="-120"/>
              </a:rPr>
              <a:t>The renderer then maps every node onto the components already in your repo — your &lt;Button&gt;, your &lt;Card&gt;, your tokens.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par>
                                <p:cTn id="10" presetID="10" presetClass="entr" presetSubtype="0" fill="hold" grpId="0" nodeType="withEffect">
                                  <p:stCondLst>
                                    <p:cond delay="42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childTnLst>
                                </p:cTn>
                              </p:par>
                            </p:childTnLst>
                          </p:cTn>
                        </p:par>
                      </p:childTnLst>
                    </p:cTn>
                  </p:par>
                  <p:par>
                    <p:cTn id="19" fill="hold">
                      <p:stCondLst>
                        <p:cond delay="indefinite"/>
                      </p:stCondLst>
                      <p:childTnLst>
                        <p:par>
                          <p:cTn id="20"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4"/>
                                        <p:tgtEl>
                                          <p:spTgt spid="6"/>
                                        </p:tgtEl>
                                      </p:cBhvr>
                                    </p:animEffect>
                                    <p:anim calcmode="lin" valueType="num">
                                      <p:cBhvr additive="base">
                                        <p:cTn id="18" dur="650" fill="hold"/>
                                        <p:tgtEl>
                                          <p:spTgt spid="6"/>
                                        </p:tgtEl>
                                        <p:attrNameLst>
                                          <p:attrName>ppt_x</p:attrName>
                                        </p:attrNameLst>
                                      </p:cBhvr>
                                      <p:tavLst>
                                        <p:tav tm="0">
                                          <p:val>
                                            <p:strVal val="0-#ppt_w/2"/>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50"/>
                                        <p:tgtEl>
                                          <p:spTgt spid="8"/>
                                        </p:tgtEl>
                                      </p:cBhvr>
                                    </p:animEffect>
                                  </p:childTnLst>
                                </p:cTn>
                              </p:par>
                              <p:par>
                                <p:cTn id="24" presetID="2" presetClass="entr" presetSubtype="2" fill="hold" grpId="0" nodeType="withEffect">
                                  <p:stCondLst>
                                    <p:cond delay="1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454"/>
                                        <p:tgtEl>
                                          <p:spTgt spid="7"/>
                                        </p:tgtEl>
                                      </p:cBhvr>
                                    </p:animEffect>
                                    <p:anim calcmode="lin" valueType="num">
                                      <p:cBhvr additive="base">
                                        <p:cTn id="27" dur="650" fill="hold"/>
                                        <p:tgtEl>
                                          <p:spTgt spid="7"/>
                                        </p:tgtEl>
                                        <p:attrNameLst>
                                          <p:attrName>ppt_x</p:attrName>
                                        </p:attrNameLst>
                                      </p:cBhvr>
                                      <p:tavLst>
                                        <p:tav tm="0">
                                          <p:val>
                                            <p:strVal val="1+#ppt_w/2"/>
                                          </p:val>
                                        </p:tav>
                                        <p:tav tm="100000">
                                          <p:val>
                                            <p:strVal val="#ppt_x"/>
                                          </p:val>
                                        </p:tav>
                                      </p:tavLst>
                                    </p:anim>
                                  </p:childTnLst>
                                </p:cTn>
                              </p:par>
                            </p:childTnLst>
                          </p:cTn>
                        </p:par>
                      </p:childTnLst>
                    </p:cTn>
                  </p:par>
                  <p:par>
                    <p:cTn id="36" fill="hold">
                      <p:stCondLst>
                        <p:cond delay="indefinite"/>
                      </p:stCondLst>
                      <p:childTnLst>
                        <p:par>
                          <p:cTn id="37"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right)">
                                      <p:cBhvr>
                                        <p:cTn id="32" dur="700"/>
                                        <p:tgtEl>
                                          <p:spTgt spid="9"/>
                                        </p:tgtEl>
                                      </p:cBhvr>
                                    </p:animEffect>
                                  </p:childTnLst>
                                </p:cTn>
                              </p:par>
                              <p:par>
                                <p:cTn id="33" presetID="10" presetClass="entr" presetSubtype="0" fill="hold" grpId="0" nodeType="withEffect">
                                  <p:stCondLst>
                                    <p:cond delay="4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WHY iQOO · WHY SNAPDRAGON</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This only runs because of the </a:t>
            </a:r>
            <a:pPr algn="l" indent="0" marL="0">
              <a:buNone/>
            </a:pPr>
            <a:r>
              <a:rPr lang="en-US" sz="3300" b="1" dirty="0">
                <a:solidFill>
                  <a:srgbClr val="FF7A18"/>
                </a:solidFill>
                <a:latin typeface="Arial" pitchFamily="34" charset="0"/>
                <a:ea typeface="Arial" pitchFamily="34" charset="-122"/>
                <a:cs typeface="Arial" pitchFamily="34" charset="-120"/>
              </a:rPr>
              <a:t>silicon.</a:t>
            </a:r>
            <a:endParaRPr lang="en-US" sz="3300" dirty="0"/>
          </a:p>
        </p:txBody>
      </p:sp>
      <p:pic>
        <p:nvPicPr>
          <p:cNvPr id="5" name="chip" descr="/home/claude/build/img/chip.png">    </p:cNvPr>
          <p:cNvPicPr>
            <a:picLocks noChangeAspect="1"/>
          </p:cNvPicPr>
          <p:nvPr/>
        </p:nvPicPr>
        <p:blipFill>
          <a:blip r:embed="rId2"/>
          <a:stretch>
            <a:fillRect/>
          </a:stretch>
        </p:blipFill>
        <p:spPr>
          <a:xfrm>
            <a:off x="502920" y="1920240"/>
            <a:ext cx="5120640" cy="4005072"/>
          </a:xfrm>
          <a:prstGeom prst="rect">
            <a:avLst/>
          </a:prstGeom>
        </p:spPr>
      </p:pic>
      <p:sp>
        <p:nvSpPr>
          <p:cNvPr id="6" name="r0"/>
          <p:cNvSpPr/>
          <p:nvPr/>
        </p:nvSpPr>
        <p:spPr>
          <a:xfrm>
            <a:off x="5989320" y="2103120"/>
            <a:ext cx="566928" cy="566928"/>
          </a:xfrm>
          <a:prstGeom prst="ellipse">
            <a:avLst/>
          </a:prstGeom>
          <a:solidFill>
            <a:srgbClr val="FF7A18">
              <a:alpha val="16000"/>
            </a:srgbClr>
          </a:solidFill>
          <a:ln w="15875">
            <a:solidFill>
              <a:srgbClr val="FF7A18"/>
            </a:solidFill>
            <a:prstDash val="solid"/>
          </a:ln>
        </p:spPr>
      </p:sp>
      <p:pic>
        <p:nvPicPr>
          <p:cNvPr id="7" name="r0_i" descr="/home/claude/build/img/ic_cpu_em.png">    </p:cNvPr>
          <p:cNvPicPr>
            <a:picLocks noChangeAspect="1"/>
          </p:cNvPicPr>
          <p:nvPr/>
        </p:nvPicPr>
        <p:blipFill>
          <a:blip r:embed="rId3"/>
          <a:stretch>
            <a:fillRect/>
          </a:stretch>
        </p:blipFill>
        <p:spPr>
          <a:xfrm>
            <a:off x="6136721" y="2250521"/>
            <a:ext cx="272125" cy="272125"/>
          </a:xfrm>
          <a:prstGeom prst="rect">
            <a:avLst/>
          </a:prstGeom>
        </p:spPr>
      </p:pic>
      <p:sp>
        <p:nvSpPr>
          <p:cNvPr id="8" name="r0_t"/>
          <p:cNvSpPr txBox="1"/>
          <p:nvPr/>
        </p:nvSpPr>
        <p:spPr>
          <a:xfrm>
            <a:off x="6766560" y="2048256"/>
            <a:ext cx="4709160" cy="118872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Hexagon NPU (HTP)</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A 500M-parameter vision model runs on the tensor accelerator — not the CPU, which would take minutes and cook the phone.</a:t>
            </a:r>
            <a:endParaRPr lang="en-US" sz="1550" dirty="0"/>
          </a:p>
        </p:txBody>
      </p:sp>
      <p:sp>
        <p:nvSpPr>
          <p:cNvPr id="9" name="r1"/>
          <p:cNvSpPr/>
          <p:nvPr/>
        </p:nvSpPr>
        <p:spPr>
          <a:xfrm>
            <a:off x="5989320" y="3419856"/>
            <a:ext cx="566928" cy="566928"/>
          </a:xfrm>
          <a:prstGeom prst="ellipse">
            <a:avLst/>
          </a:prstGeom>
          <a:solidFill>
            <a:srgbClr val="FFB347">
              <a:alpha val="16000"/>
            </a:srgbClr>
          </a:solidFill>
          <a:ln w="15875">
            <a:solidFill>
              <a:srgbClr val="FFB347"/>
            </a:solidFill>
            <a:prstDash val="solid"/>
          </a:ln>
        </p:spPr>
      </p:sp>
      <p:pic>
        <p:nvPicPr>
          <p:cNvPr id="10" name="r1_i" descr="/home/claude/build/img/ic_zap_em.png">    </p:cNvPr>
          <p:cNvPicPr>
            <a:picLocks noChangeAspect="1"/>
          </p:cNvPicPr>
          <p:nvPr/>
        </p:nvPicPr>
        <p:blipFill>
          <a:blip r:embed="rId4"/>
          <a:stretch>
            <a:fillRect/>
          </a:stretch>
        </p:blipFill>
        <p:spPr>
          <a:xfrm>
            <a:off x="6136721" y="3567257"/>
            <a:ext cx="272125" cy="272125"/>
          </a:xfrm>
          <a:prstGeom prst="rect">
            <a:avLst/>
          </a:prstGeom>
        </p:spPr>
      </p:pic>
      <p:sp>
        <p:nvSpPr>
          <p:cNvPr id="11" name="r1_t"/>
          <p:cNvSpPr txBox="1"/>
          <p:nvPr/>
        </p:nvSpPr>
        <p:spPr>
          <a:xfrm>
            <a:off x="6766560" y="3364992"/>
            <a:ext cx="4709160" cy="118872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INT4 quantisation</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Four-bit weights let the whole model sit in memory and finish inference in about 1.2 seconds.</a:t>
            </a:r>
            <a:endParaRPr lang="en-US" sz="1550" dirty="0"/>
          </a:p>
        </p:txBody>
      </p:sp>
      <p:sp>
        <p:nvSpPr>
          <p:cNvPr id="12" name="r2"/>
          <p:cNvSpPr/>
          <p:nvPr/>
        </p:nvSpPr>
        <p:spPr>
          <a:xfrm>
            <a:off x="5989320" y="4736592"/>
            <a:ext cx="566928" cy="566928"/>
          </a:xfrm>
          <a:prstGeom prst="ellipse">
            <a:avLst/>
          </a:prstGeom>
          <a:solidFill>
            <a:srgbClr val="22D3EE">
              <a:alpha val="16000"/>
            </a:srgbClr>
          </a:solidFill>
          <a:ln w="15875">
            <a:solidFill>
              <a:srgbClr val="22D3EE"/>
            </a:solidFill>
            <a:prstDash val="solid"/>
          </a:ln>
        </p:spPr>
      </p:sp>
      <p:pic>
        <p:nvPicPr>
          <p:cNvPr id="13" name="r2_i" descr="/home/claude/build/img/ic_wifioff_si.png">    </p:cNvPr>
          <p:cNvPicPr>
            <a:picLocks noChangeAspect="1"/>
          </p:cNvPicPr>
          <p:nvPr/>
        </p:nvPicPr>
        <p:blipFill>
          <a:blip r:embed="rId5"/>
          <a:stretch>
            <a:fillRect/>
          </a:stretch>
        </p:blipFill>
        <p:spPr>
          <a:xfrm>
            <a:off x="6136721" y="4883993"/>
            <a:ext cx="272125" cy="272125"/>
          </a:xfrm>
          <a:prstGeom prst="rect">
            <a:avLst/>
          </a:prstGeom>
        </p:spPr>
      </p:pic>
      <p:sp>
        <p:nvSpPr>
          <p:cNvPr id="14" name="r2_t"/>
          <p:cNvSpPr txBox="1"/>
          <p:nvPr/>
        </p:nvSpPr>
        <p:spPr>
          <a:xfrm>
            <a:off x="6766560" y="4681728"/>
            <a:ext cx="4709160" cy="1188720"/>
          </a:xfrm>
          <a:prstGeom prst="rect">
            <a:avLst/>
          </a:prstGeom>
          <a:noFill/>
          <a:ln/>
        </p:spPr>
        <p:txBody>
          <a:bodyPr wrap="square" lIns="0" tIns="0" rIns="0" bIns="0" rtlCol="0" anchor="t"/>
          <a:lstStyle/>
          <a:p>
            <a:pPr indent="0" marL="0">
              <a:lnSpc>
                <a:spcPct val="112000"/>
              </a:lnSpc>
              <a:spcBef>
                <a:spcPts val="300"/>
              </a:spcBef>
              <a:buNone/>
            </a:pPr>
            <a:r>
              <a:rPr lang="en-US" sz="1550" b="1" dirty="0">
                <a:solidFill>
                  <a:srgbClr val="E8ECF5"/>
                </a:solidFill>
                <a:latin typeface="Arial" pitchFamily="34" charset="0"/>
                <a:ea typeface="Arial" pitchFamily="34" charset="-122"/>
                <a:cs typeface="Arial" pitchFamily="34" charset="-120"/>
              </a:rPr>
              <a:t>Airplane mode by default</a:t>
            </a:r>
            <a:endParaRPr lang="en-US" sz="1550" dirty="0"/>
          </a:p>
          <a:p>
            <a:pPr indent="0" marL="0">
              <a:lnSpc>
                <a:spcPct val="112000"/>
              </a:lnSpc>
              <a:spcBef>
                <a:spcPts val="300"/>
              </a:spcBef>
              <a:buNone/>
            </a:pPr>
            <a:r>
              <a:rPr lang="en-US" sz="1250" dirty="0">
                <a:solidFill>
                  <a:srgbClr val="8A94AB"/>
                </a:solidFill>
                <a:latin typeface="Arial" pitchFamily="34" charset="0"/>
                <a:ea typeface="Arial" pitchFamily="34" charset="-122"/>
                <a:cs typeface="Arial" pitchFamily="34" charset="-120"/>
              </a:rPr>
              <a:t>No radio, no API key, no telemetry. Here privacy is an architectural property, not a policy promise.</a:t>
            </a:r>
            <a:endParaRPr lang="en-US" sz="1550" dirty="0"/>
          </a:p>
        </p:txBody>
      </p:sp>
      <p:sp>
        <p:nvSpPr>
          <p:cNvPr id="15" name="note"/>
          <p:cNvSpPr txBox="1"/>
          <p:nvPr/>
        </p:nvSpPr>
        <p:spPr>
          <a:xfrm>
            <a:off x="5989320" y="5943600"/>
            <a:ext cx="5486400" cy="310896"/>
          </a:xfrm>
          <a:prstGeom prst="rect">
            <a:avLst/>
          </a:prstGeom>
          <a:noFill/>
          <a:ln/>
        </p:spPr>
        <p:txBody>
          <a:bodyPr wrap="square" lIns="0" tIns="0" rIns="0" bIns="0" rtlCol="0" anchor="ctr"/>
          <a:lstStyle/>
          <a:p>
            <a:pPr indent="0" marL="0">
              <a:buNone/>
            </a:pPr>
            <a:r>
              <a:rPr lang="en-US" sz="1050" dirty="0">
                <a:solidFill>
                  <a:srgbClr val="8A94AB"/>
                </a:solidFill>
                <a:latin typeface="Arial" pitchFamily="34" charset="0"/>
                <a:ea typeface="Arial" pitchFamily="34" charset="-122"/>
                <a:cs typeface="Arial" pitchFamily="34" charset="-120"/>
              </a:rPr>
              <a:t>SmolVLM INT4 latency benchmarked on Snapdragon 8s Gen 3 via Qualcomm AI Hub.</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2" presetID="4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800"/>
                                        <p:tgtEl>
                                          <p:spTgt spid="5"/>
                                        </p:tgtEl>
                                      </p:cBhvr>
                                    </p:animEffect>
                                    <p:anim calcmode="lin" valueType="num">
                                      <p:cBhvr additive="base">
                                        <p:cTn id="15" dur="800" fill="hold"/>
                                        <p:tgtEl>
                                          <p:spTgt spid="5"/>
                                        </p:tgtEl>
                                        <p:attrNameLst>
                                          <p:attrName>ppt_y</p:attrName>
                                        </p:attrNameLst>
                                      </p:cBhvr>
                                      <p:tavLst>
                                        <p:tav tm="0">
                                          <p:val>
                                            <p:strVal val="#ppt_y+0.04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00"/>
                                        <p:tgtEl>
                                          <p:spTgt spid="6"/>
                                        </p:tgtEl>
                                      </p:cBhvr>
                                    </p:animEffect>
                                    <p:animScale>
                                      <p:cBhvr>
                                        <p:cTn id="21" dur="400" fill="hold"/>
                                        <p:tgtEl>
                                          <p:spTgt spid="6"/>
                                        </p:tgtEl>
                                      </p:cBhvr>
                                      <p:from x="62000" y="62000"/>
                                      <p:to x="100000" y="100000"/>
                                    </p:animScale>
                                  </p:childTnLst>
                                </p:cTn>
                              </p:par>
                              <p:par>
                                <p:cTn id="22" presetID="2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p:tgtEl>
                                          <p:spTgt spid="7"/>
                                        </p:tgtEl>
                                      </p:cBhvr>
                                    </p:animEffect>
                                    <p:animScale>
                                      <p:cBhvr>
                                        <p:cTn id="25" dur="400" fill="hold"/>
                                        <p:tgtEl>
                                          <p:spTgt spid="7"/>
                                        </p:tgtEl>
                                      </p:cBhvr>
                                      <p:from x="62000" y="62000"/>
                                      <p:to x="100000" y="100000"/>
                                    </p:animScale>
                                  </p:childTnLst>
                                </p:cTn>
                              </p:par>
                              <p:par>
                                <p:cTn id="26" presetID="2" presetClass="entr" presetSubtype="2" fill="hold" grpId="0" nodeType="withEffect">
                                  <p:stCondLst>
                                    <p:cond delay="12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50"/>
                                        <p:tgtEl>
                                          <p:spTgt spid="8"/>
                                        </p:tgtEl>
                                      </p:cBhvr>
                                    </p:animEffect>
                                    <p:anim calcmode="lin" valueType="num">
                                      <p:cBhvr additive="base">
                                        <p:cTn id="29" dur="500" fill="hold"/>
                                        <p:tgtEl>
                                          <p:spTgt spid="8"/>
                                        </p:tgtEl>
                                        <p:attrNameLst>
                                          <p:attrName>ppt_x</p:attrName>
                                        </p:attrNameLst>
                                      </p:cBhvr>
                                      <p:tavLst>
                                        <p:tav tm="0">
                                          <p:val>
                                            <p:strVal val="1+#ppt_w/2"/>
                                          </p:val>
                                        </p:tav>
                                        <p:tav tm="100000">
                                          <p:val>
                                            <p:strVal val="#ppt_x"/>
                                          </p:val>
                                        </p:tav>
                                      </p:tavLst>
                                    </p:anim>
                                  </p:childTnLst>
                                </p:cTn>
                              </p:par>
                            </p:childTnLst>
                          </p:cTn>
                        </p:par>
                      </p:childTnLst>
                    </p:cTn>
                  </p:par>
                  <p:par>
                    <p:cTn id="44" fill="hold">
                      <p:stCondLst>
                        <p:cond delay="indefinite"/>
                      </p:stCondLst>
                      <p:childTnLst>
                        <p:par>
                          <p:cTn id="45"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p:tgtEl>
                                          <p:spTgt spid="9"/>
                                        </p:tgtEl>
                                      </p:cBhvr>
                                    </p:animEffect>
                                    <p:animScale>
                                      <p:cBhvr>
                                        <p:cTn id="35" dur="400" fill="hold"/>
                                        <p:tgtEl>
                                          <p:spTgt spid="9"/>
                                        </p:tgtEl>
                                      </p:cBhvr>
                                      <p:from x="62000" y="62000"/>
                                      <p:to x="100000" y="100000"/>
                                    </p:animScale>
                                  </p:childTnLst>
                                </p:cTn>
                              </p:par>
                              <p:par>
                                <p:cTn id="36" presetID="23" presetClass="entr" presetSubtype="16"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400"/>
                                        <p:tgtEl>
                                          <p:spTgt spid="10"/>
                                        </p:tgtEl>
                                      </p:cBhvr>
                                    </p:animEffect>
                                    <p:animScale>
                                      <p:cBhvr>
                                        <p:cTn id="39" dur="400" fill="hold"/>
                                        <p:tgtEl>
                                          <p:spTgt spid="10"/>
                                        </p:tgtEl>
                                      </p:cBhvr>
                                      <p:from x="62000" y="62000"/>
                                      <p:to x="100000" y="100000"/>
                                    </p:animScale>
                                  </p:childTnLst>
                                </p:cTn>
                              </p:par>
                              <p:par>
                                <p:cTn id="40" presetID="2" presetClass="entr" presetSubtype="2" fill="hold" grpId="0" nodeType="withEffect">
                                  <p:stCondLst>
                                    <p:cond delay="12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50"/>
                                        <p:tgtEl>
                                          <p:spTgt spid="11"/>
                                        </p:tgtEl>
                                      </p:cBhvr>
                                    </p:animEffect>
                                    <p:anim calcmode="lin" valueType="num">
                                      <p:cBhvr additive="base">
                                        <p:cTn id="43" dur="500" fill="hold"/>
                                        <p:tgtEl>
                                          <p:spTgt spid="11"/>
                                        </p:tgtEl>
                                        <p:attrNameLst>
                                          <p:attrName>ppt_x</p:attrName>
                                        </p:attrNameLst>
                                      </p:cBhvr>
                                      <p:tavLst>
                                        <p:tav tm="0">
                                          <p:val>
                                            <p:strVal val="1+#ppt_w/2"/>
                                          </p:val>
                                        </p:tav>
                                        <p:tav tm="100000">
                                          <p:val>
                                            <p:strVal val="#ppt_x"/>
                                          </p:val>
                                        </p:tav>
                                      </p:tavLst>
                                    </p:anim>
                                  </p:childTnLst>
                                </p:cTn>
                              </p:par>
                            </p:childTnLst>
                          </p:cTn>
                        </p:par>
                      </p:childTnLst>
                    </p:cTn>
                  </p:par>
                  <p:par>
                    <p:cTn id="61" fill="hold">
                      <p:stCondLst>
                        <p:cond delay="indefinite"/>
                      </p:stCondLst>
                      <p:childTnLst>
                        <p:par>
                          <p:cTn id="62"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400"/>
                                        <p:tgtEl>
                                          <p:spTgt spid="12"/>
                                        </p:tgtEl>
                                      </p:cBhvr>
                                    </p:animEffect>
                                    <p:animScale>
                                      <p:cBhvr>
                                        <p:cTn id="49" dur="400" fill="hold"/>
                                        <p:tgtEl>
                                          <p:spTgt spid="12"/>
                                        </p:tgtEl>
                                      </p:cBhvr>
                                      <p:from x="62000" y="62000"/>
                                      <p:to x="100000" y="100000"/>
                                    </p:animScale>
                                  </p:childTnLst>
                                </p:cTn>
                              </p:par>
                              <p:par>
                                <p:cTn id="50" presetID="23" presetClass="entr" presetSubtype="16"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00"/>
                                        <p:tgtEl>
                                          <p:spTgt spid="13"/>
                                        </p:tgtEl>
                                      </p:cBhvr>
                                    </p:animEffect>
                                    <p:animScale>
                                      <p:cBhvr>
                                        <p:cTn id="53" dur="400" fill="hold"/>
                                        <p:tgtEl>
                                          <p:spTgt spid="13"/>
                                        </p:tgtEl>
                                      </p:cBhvr>
                                      <p:from x="62000" y="62000"/>
                                      <p:to x="100000" y="100000"/>
                                    </p:animScale>
                                  </p:childTnLst>
                                </p:cTn>
                              </p:par>
                              <p:par>
                                <p:cTn id="54" presetID="2" presetClass="entr" presetSubtype="2" fill="hold" grpId="0" nodeType="withEffect">
                                  <p:stCondLst>
                                    <p:cond delay="12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350"/>
                                        <p:tgtEl>
                                          <p:spTgt spid="14"/>
                                        </p:tgtEl>
                                      </p:cBhvr>
                                    </p:animEffect>
                                    <p:anim calcmode="lin" valueType="num">
                                      <p:cBhvr additive="base">
                                        <p:cTn id="57" dur="500" fill="hold"/>
                                        <p:tgtEl>
                                          <p:spTgt spid="14"/>
                                        </p:tgtEl>
                                        <p:attrNameLst>
                                          <p:attrName>ppt_x</p:attrName>
                                        </p:attrNameLst>
                                      </p:cBhvr>
                                      <p:tavLst>
                                        <p:tav tm="0">
                                          <p:val>
                                            <p:strVal val="1+#ppt_w/2"/>
                                          </p:val>
                                        </p:tav>
                                        <p:tav tm="100000">
                                          <p:val>
                                            <p:strVal val="#ppt_x"/>
                                          </p:val>
                                        </p:tav>
                                      </p:tavLst>
                                    </p:anim>
                                  </p:childTnLst>
                                </p:cTn>
                              </p:par>
                              <p:par>
                                <p:cTn id="58" presetID="10" presetClass="entr" presetSubtype="0" fill="hold" grpId="0" nodeType="withEffect">
                                  <p:stCondLst>
                                    <p:cond delay="5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iQOO ADVANTAGE</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Phone to laptop, with </a:t>
            </a:r>
            <a:pPr algn="l" indent="0" marL="0">
              <a:buNone/>
            </a:pPr>
            <a:r>
              <a:rPr lang="en-US" sz="3300" b="1" dirty="0">
                <a:solidFill>
                  <a:srgbClr val="FF7A18"/>
                </a:solidFill>
                <a:latin typeface="Arial" pitchFamily="34" charset="0"/>
                <a:ea typeface="Arial" pitchFamily="34" charset="-122"/>
                <a:cs typeface="Arial" pitchFamily="34" charset="-120"/>
              </a:rPr>
              <a:t>zero setup.</a:t>
            </a:r>
            <a:endParaRPr lang="en-US" sz="3300" dirty="0"/>
          </a:p>
        </p:txBody>
      </p:sp>
      <p:pic>
        <p:nvPicPr>
          <p:cNvPr id="5" name="ok" descr="/home/claude/build/img/officekit.png">    </p:cNvPr>
          <p:cNvPicPr>
            <a:picLocks noChangeAspect="1"/>
          </p:cNvPicPr>
          <p:nvPr/>
        </p:nvPicPr>
        <p:blipFill>
          <a:blip r:embed="rId2"/>
          <a:stretch>
            <a:fillRect/>
          </a:stretch>
        </p:blipFill>
        <p:spPr>
          <a:xfrm>
            <a:off x="548640" y="2103120"/>
            <a:ext cx="6858000" cy="3465576"/>
          </a:xfrm>
          <a:prstGeom prst="rect">
            <a:avLst/>
          </a:prstGeom>
        </p:spPr>
      </p:pic>
      <p:sp>
        <p:nvSpPr>
          <p:cNvPr id="6" name="s0"/>
          <p:cNvSpPr/>
          <p:nvPr/>
        </p:nvSpPr>
        <p:spPr>
          <a:xfrm>
            <a:off x="7726680" y="2240280"/>
            <a:ext cx="402336" cy="402336"/>
          </a:xfrm>
          <a:prstGeom prst="ellipse">
            <a:avLst/>
          </a:prstGeom>
          <a:solidFill>
            <a:srgbClr val="FF7A18">
              <a:alpha val="18000"/>
            </a:srgbClr>
          </a:solidFill>
          <a:ln w="15240">
            <a:solidFill>
              <a:srgbClr val="FF7A18"/>
            </a:solidFill>
            <a:prstDash val="solid"/>
          </a:ln>
        </p:spPr>
      </p:sp>
      <p:sp>
        <p:nvSpPr>
          <p:cNvPr id="7" name="s0n"/>
          <p:cNvSpPr txBox="1"/>
          <p:nvPr/>
        </p:nvSpPr>
        <p:spPr>
          <a:xfrm>
            <a:off x="7726680" y="2240280"/>
            <a:ext cx="402336" cy="402336"/>
          </a:xfrm>
          <a:prstGeom prst="rect">
            <a:avLst/>
          </a:prstGeom>
          <a:noFill/>
          <a:ln/>
        </p:spPr>
        <p:txBody>
          <a:bodyPr wrap="square" lIns="0" tIns="0" rIns="0" bIns="0" rtlCol="0" anchor="ctr"/>
          <a:lstStyle/>
          <a:p>
            <a:pPr algn="ctr" indent="0" marL="0">
              <a:buNone/>
            </a:pPr>
            <a:r>
              <a:rPr lang="en-US" sz="1250" b="1" dirty="0">
                <a:solidFill>
                  <a:srgbClr val="FFB347"/>
                </a:solidFill>
                <a:latin typeface="Arial" pitchFamily="34" charset="0"/>
                <a:ea typeface="Arial" pitchFamily="34" charset="-122"/>
                <a:cs typeface="Arial" pitchFamily="34" charset="-120"/>
              </a:rPr>
              <a:t>1</a:t>
            </a:r>
            <a:endParaRPr lang="en-US" sz="1250" dirty="0"/>
          </a:p>
        </p:txBody>
      </p:sp>
      <p:sp>
        <p:nvSpPr>
          <p:cNvPr id="8" name="s0t"/>
          <p:cNvSpPr txBox="1"/>
          <p:nvPr/>
        </p:nvSpPr>
        <p:spPr>
          <a:xfrm>
            <a:off x="8275320" y="2185416"/>
            <a:ext cx="3227832" cy="960120"/>
          </a:xfrm>
          <a:prstGeom prst="rect">
            <a:avLst/>
          </a:prstGeom>
          <a:noFill/>
          <a:ln/>
        </p:spPr>
        <p:txBody>
          <a:bodyPr wrap="square" lIns="0" tIns="0" rIns="0" bIns="0" rtlCol="0" anchor="t"/>
          <a:lstStyle/>
          <a:p>
            <a:pPr indent="0" marL="0">
              <a:lnSpc>
                <a:spcPct val="115000"/>
              </a:lnSpc>
              <a:buNone/>
            </a:pPr>
            <a:r>
              <a:rPr lang="en-US" sz="1250" dirty="0">
                <a:solidFill>
                  <a:srgbClr val="E8ECF5"/>
                </a:solidFill>
                <a:latin typeface="Arial" pitchFamily="34" charset="0"/>
                <a:ea typeface="Arial" pitchFamily="34" charset="-122"/>
                <a:cs typeface="Arial" pitchFamily="34" charset="-120"/>
              </a:rPr>
              <a:t>The Android app writes the JSON payload straight to the system clipboard.</a:t>
            </a:r>
            <a:endParaRPr lang="en-US" sz="1250" dirty="0"/>
          </a:p>
        </p:txBody>
      </p:sp>
      <p:sp>
        <p:nvSpPr>
          <p:cNvPr id="9" name="s1"/>
          <p:cNvSpPr/>
          <p:nvPr/>
        </p:nvSpPr>
        <p:spPr>
          <a:xfrm>
            <a:off x="7726680" y="3374136"/>
            <a:ext cx="402336" cy="402336"/>
          </a:xfrm>
          <a:prstGeom prst="ellipse">
            <a:avLst/>
          </a:prstGeom>
          <a:solidFill>
            <a:srgbClr val="FF7A18">
              <a:alpha val="18000"/>
            </a:srgbClr>
          </a:solidFill>
          <a:ln w="15240">
            <a:solidFill>
              <a:srgbClr val="FF7A18"/>
            </a:solidFill>
            <a:prstDash val="solid"/>
          </a:ln>
        </p:spPr>
      </p:sp>
      <p:sp>
        <p:nvSpPr>
          <p:cNvPr id="10" name="s1n"/>
          <p:cNvSpPr txBox="1"/>
          <p:nvPr/>
        </p:nvSpPr>
        <p:spPr>
          <a:xfrm>
            <a:off x="7726680" y="3374136"/>
            <a:ext cx="402336" cy="402336"/>
          </a:xfrm>
          <a:prstGeom prst="rect">
            <a:avLst/>
          </a:prstGeom>
          <a:noFill/>
          <a:ln/>
        </p:spPr>
        <p:txBody>
          <a:bodyPr wrap="square" lIns="0" tIns="0" rIns="0" bIns="0" rtlCol="0" anchor="ctr"/>
          <a:lstStyle/>
          <a:p>
            <a:pPr algn="ctr" indent="0" marL="0">
              <a:buNone/>
            </a:pPr>
            <a:r>
              <a:rPr lang="en-US" sz="1250" b="1" dirty="0">
                <a:solidFill>
                  <a:srgbClr val="FFB347"/>
                </a:solidFill>
                <a:latin typeface="Arial" pitchFamily="34" charset="0"/>
                <a:ea typeface="Arial" pitchFamily="34" charset="-122"/>
                <a:cs typeface="Arial" pitchFamily="34" charset="-120"/>
              </a:rPr>
              <a:t>2</a:t>
            </a:r>
            <a:endParaRPr lang="en-US" sz="1250" dirty="0"/>
          </a:p>
        </p:txBody>
      </p:sp>
      <p:sp>
        <p:nvSpPr>
          <p:cNvPr id="11" name="s1t"/>
          <p:cNvSpPr txBox="1"/>
          <p:nvPr/>
        </p:nvSpPr>
        <p:spPr>
          <a:xfrm>
            <a:off x="8275320" y="3319272"/>
            <a:ext cx="3227832" cy="960120"/>
          </a:xfrm>
          <a:prstGeom prst="rect">
            <a:avLst/>
          </a:prstGeom>
          <a:noFill/>
          <a:ln/>
        </p:spPr>
        <p:txBody>
          <a:bodyPr wrap="square" lIns="0" tIns="0" rIns="0" bIns="0" rtlCol="0" anchor="t"/>
          <a:lstStyle/>
          <a:p>
            <a:pPr indent="0" marL="0">
              <a:lnSpc>
                <a:spcPct val="115000"/>
              </a:lnSpc>
              <a:buNone/>
            </a:pPr>
            <a:r>
              <a:rPr lang="en-US" sz="1250" dirty="0">
                <a:solidFill>
                  <a:srgbClr val="E8ECF5"/>
                </a:solidFill>
                <a:latin typeface="Arial" pitchFamily="34" charset="0"/>
                <a:ea typeface="Arial" pitchFamily="34" charset="-122"/>
                <a:cs typeface="Arial" pitchFamily="34" charset="-120"/>
              </a:rPr>
              <a:t>iQOO Office Kit mirrors that clipboard to the laptop — natively, instantly.</a:t>
            </a:r>
            <a:endParaRPr lang="en-US" sz="1250" dirty="0"/>
          </a:p>
        </p:txBody>
      </p:sp>
      <p:sp>
        <p:nvSpPr>
          <p:cNvPr id="12" name="s2"/>
          <p:cNvSpPr/>
          <p:nvPr/>
        </p:nvSpPr>
        <p:spPr>
          <a:xfrm>
            <a:off x="7726680" y="4507992"/>
            <a:ext cx="402336" cy="402336"/>
          </a:xfrm>
          <a:prstGeom prst="ellipse">
            <a:avLst/>
          </a:prstGeom>
          <a:solidFill>
            <a:srgbClr val="FF7A18">
              <a:alpha val="18000"/>
            </a:srgbClr>
          </a:solidFill>
          <a:ln w="15240">
            <a:solidFill>
              <a:srgbClr val="FF7A18"/>
            </a:solidFill>
            <a:prstDash val="solid"/>
          </a:ln>
        </p:spPr>
      </p:sp>
      <p:sp>
        <p:nvSpPr>
          <p:cNvPr id="13" name="s2n"/>
          <p:cNvSpPr txBox="1"/>
          <p:nvPr/>
        </p:nvSpPr>
        <p:spPr>
          <a:xfrm>
            <a:off x="7726680" y="4507992"/>
            <a:ext cx="402336" cy="402336"/>
          </a:xfrm>
          <a:prstGeom prst="rect">
            <a:avLst/>
          </a:prstGeom>
          <a:noFill/>
          <a:ln/>
        </p:spPr>
        <p:txBody>
          <a:bodyPr wrap="square" lIns="0" tIns="0" rIns="0" bIns="0" rtlCol="0" anchor="ctr"/>
          <a:lstStyle/>
          <a:p>
            <a:pPr algn="ctr" indent="0" marL="0">
              <a:buNone/>
            </a:pPr>
            <a:r>
              <a:rPr lang="en-US" sz="1250" b="1" dirty="0">
                <a:solidFill>
                  <a:srgbClr val="FFB347"/>
                </a:solidFill>
                <a:latin typeface="Arial" pitchFamily="34" charset="0"/>
                <a:ea typeface="Arial" pitchFamily="34" charset="-122"/>
                <a:cs typeface="Arial" pitchFamily="34" charset="-120"/>
              </a:rPr>
              <a:t>3</a:t>
            </a:r>
            <a:endParaRPr lang="en-US" sz="1250" dirty="0"/>
          </a:p>
        </p:txBody>
      </p:sp>
      <p:sp>
        <p:nvSpPr>
          <p:cNvPr id="14" name="s2t"/>
          <p:cNvSpPr txBox="1"/>
          <p:nvPr/>
        </p:nvSpPr>
        <p:spPr>
          <a:xfrm>
            <a:off x="8275320" y="4453128"/>
            <a:ext cx="3227832" cy="960120"/>
          </a:xfrm>
          <a:prstGeom prst="rect">
            <a:avLst/>
          </a:prstGeom>
          <a:noFill/>
          <a:ln/>
        </p:spPr>
        <p:txBody>
          <a:bodyPr wrap="square" lIns="0" tIns="0" rIns="0" bIns="0" rtlCol="0" anchor="t"/>
          <a:lstStyle/>
          <a:p>
            <a:pPr indent="0" marL="0">
              <a:lnSpc>
                <a:spcPct val="115000"/>
              </a:lnSpc>
              <a:buNone/>
            </a:pPr>
            <a:r>
              <a:rPr lang="en-US" sz="1250" dirty="0">
                <a:solidFill>
                  <a:srgbClr val="E8ECF5"/>
                </a:solidFill>
                <a:latin typeface="Arial" pitchFamily="34" charset="0"/>
                <a:ea typeface="Arial" pitchFamily="34" charset="-122"/>
                <a:cs typeface="Arial" pitchFamily="34" charset="-120"/>
              </a:rPr>
              <a:t>Our Node CLI sees it, renders TSX and commits it to a fresh Git branch.</a:t>
            </a:r>
            <a:endParaRPr lang="en-US" sz="1250" dirty="0"/>
          </a:p>
        </p:txBody>
      </p:sp>
      <p:sp>
        <p:nvSpPr>
          <p:cNvPr id="15" name="note"/>
          <p:cNvSpPr txBox="1"/>
          <p:nvPr/>
        </p:nvSpPr>
        <p:spPr>
          <a:xfrm>
            <a:off x="685800" y="5870448"/>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No ADB. No IP addresses. No pairing screen. The most stable transport the device already has.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25"/>
                                        <p:tgtEl>
                                          <p:spTgt spid="5"/>
                                        </p:tgtEl>
                                      </p:cBhvr>
                                    </p:animEffect>
                                    <p:anim calcmode="lin" valueType="num">
                                      <p:cBhvr additive="base">
                                        <p:cTn id="15" dur="750" fill="hold"/>
                                        <p:tgtEl>
                                          <p:spTgt spid="5"/>
                                        </p:tgtEl>
                                        <p:attrNameLst>
                                          <p:attrName>ppt_x</p:attrName>
                                        </p:attrNameLst>
                                      </p:cBhvr>
                                      <p:tavLst>
                                        <p:tav tm="0">
                                          <p:val>
                                            <p:strVal val="0-#ppt_w/2"/>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350"/>
                                        <p:tgtEl>
                                          <p:spTgt spid="6"/>
                                        </p:tgtEl>
                                      </p:cBhvr>
                                    </p:animEffect>
                                    <p:animScale>
                                      <p:cBhvr>
                                        <p:cTn id="21" dur="350" fill="hold"/>
                                        <p:tgtEl>
                                          <p:spTgt spid="6"/>
                                        </p:tgtEl>
                                      </p:cBhvr>
                                      <p:from x="62000" y="62000"/>
                                      <p:to x="100000" y="100000"/>
                                    </p:animScale>
                                  </p:childTnLst>
                                </p:cTn>
                              </p:par>
                              <p:par>
                                <p:cTn id="22" presetID="10" presetClass="entr" presetSubtype="0" fill="hold" grpId="0" nodeType="withEffect">
                                  <p:stCondLst>
                                    <p:cond delay="6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10" presetClass="entr" presetSubtype="0" fill="hold" grpId="0" nodeType="withEffect">
                                  <p:stCondLst>
                                    <p:cond delay="12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childTnLst>
                                </p:cTn>
                              </p:par>
                            </p:childTnLst>
                          </p:cTn>
                        </p:par>
                      </p:childTnLst>
                    </p:cTn>
                  </p:par>
                  <p:par>
                    <p:cTn id="40" fill="hold">
                      <p:stCondLst>
                        <p:cond delay="indefinite"/>
                      </p:stCondLst>
                      <p:childTnLst>
                        <p:par>
                          <p:cTn id="41"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50"/>
                                        <p:tgtEl>
                                          <p:spTgt spid="9"/>
                                        </p:tgtEl>
                                      </p:cBhvr>
                                    </p:animEffect>
                                    <p:animScale>
                                      <p:cBhvr>
                                        <p:cTn id="33" dur="350" fill="hold"/>
                                        <p:tgtEl>
                                          <p:spTgt spid="9"/>
                                        </p:tgtEl>
                                      </p:cBhvr>
                                      <p:from x="62000" y="62000"/>
                                      <p:to x="100000" y="100000"/>
                                    </p:animScale>
                                  </p:childTnLst>
                                </p:cTn>
                              </p:par>
                              <p:par>
                                <p:cTn id="34" presetID="10" presetClass="entr" presetSubtype="0" fill="hold" grpId="0" nodeType="withEffect">
                                  <p:stCondLst>
                                    <p:cond delay="6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p:stCondLst>
                                    <p:cond delay="12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450"/>
                                        <p:tgtEl>
                                          <p:spTgt spid="11"/>
                                        </p:tgtEl>
                                      </p:cBhvr>
                                    </p:animEffect>
                                  </p:childTnLst>
                                </p:cTn>
                              </p:par>
                            </p:childTnLst>
                          </p:cTn>
                        </p:par>
                      </p:childTnLst>
                    </p:cTn>
                  </p:par>
                  <p:par>
                    <p:cTn id="52" fill="hold">
                      <p:stCondLst>
                        <p:cond delay="indefinite"/>
                      </p:stCondLst>
                      <p:childTnLst>
                        <p:par>
                          <p:cTn id="53"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Scale>
                                      <p:cBhvr>
                                        <p:cTn id="45" dur="350" fill="hold"/>
                                        <p:tgtEl>
                                          <p:spTgt spid="12"/>
                                        </p:tgtEl>
                                      </p:cBhvr>
                                      <p:from x="62000" y="62000"/>
                                      <p:to x="100000" y="100000"/>
                                    </p:animScale>
                                  </p:childTnLst>
                                </p:cTn>
                              </p:par>
                              <p:par>
                                <p:cTn id="46" presetID="10" presetClass="entr" presetSubtype="0" fill="hold" grpId="0" nodeType="withEffect">
                                  <p:stCondLst>
                                    <p:cond delay="6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childTnLst>
                                </p:cTn>
                              </p:par>
                              <p:par>
                                <p:cTn id="49" presetID="10" presetClass="entr" presetSubtype="0" fill="hold" grpId="0" nodeType="withEffect">
                                  <p:stCondLst>
                                    <p:cond delay="12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450"/>
                                        <p:tgtEl>
                                          <p:spTgt spid="14"/>
                                        </p:tgtEl>
                                      </p:cBhvr>
                                    </p:animEffect>
                                  </p:childTnLst>
                                </p:cTn>
                              </p:par>
                            </p:childTnLst>
                          </p:cTn>
                        </p:par>
                      </p:childTnLst>
                    </p:cTn>
                  </p:par>
                  <p:par>
                    <p:cTn id="57" fill="hold">
                      <p:stCondLst>
                        <p:cond delay="indefinite"/>
                      </p:stCondLst>
                      <p:childTnLst>
                        <p:par>
                          <p:cTn id="58"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right)">
                                      <p:cBhvr>
                                        <p:cTn id="56" dur="7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THE NUMBERS</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FF7A18"/>
                </a:solidFill>
                <a:latin typeface="Arial" pitchFamily="34" charset="0"/>
                <a:ea typeface="Arial" pitchFamily="34" charset="-122"/>
                <a:cs typeface="Arial" pitchFamily="34" charset="-120"/>
              </a:rPr>
              <a:t>2.5 seconds, </a:t>
            </a:r>
            <a:pPr algn="l" indent="0" marL="0">
              <a:buNone/>
            </a:pPr>
            <a:r>
              <a:rPr lang="en-US" sz="3300" b="1" dirty="0">
                <a:solidFill>
                  <a:srgbClr val="E8ECF5"/>
                </a:solidFill>
                <a:latin typeface="Arial" pitchFamily="34" charset="0"/>
                <a:ea typeface="Arial" pitchFamily="34" charset="-122"/>
                <a:cs typeface="Arial" pitchFamily="34" charset="-120"/>
              </a:rPr>
              <a:t>end to end.</a:t>
            </a:r>
            <a:endParaRPr lang="en-US" sz="3300" dirty="0"/>
          </a:p>
        </p:txBody>
      </p:sp>
      <p:sp>
        <p:nvSpPr>
          <p:cNvPr id="5" name="k0"/>
          <p:cNvSpPr/>
          <p:nvPr/>
        </p:nvSpPr>
        <p:spPr>
          <a:xfrm>
            <a:off x="685800" y="2057400"/>
            <a:ext cx="2468880" cy="1481328"/>
          </a:xfrm>
          <a:prstGeom prst="roundRect">
            <a:avLst>
              <a:gd name="adj" fmla="val 6173"/>
            </a:avLst>
          </a:prstGeom>
          <a:solidFill>
            <a:srgbClr val="121A2E">
              <a:alpha val="86000"/>
            </a:srgbClr>
          </a:solidFill>
          <a:ln w="12700">
            <a:solidFill>
              <a:srgbClr val="26314E"/>
            </a:solidFill>
            <a:prstDash val="solid"/>
          </a:ln>
        </p:spPr>
      </p:sp>
      <p:sp>
        <p:nvSpPr>
          <p:cNvPr id="6" name="kv0"/>
          <p:cNvSpPr txBox="1"/>
          <p:nvPr/>
        </p:nvSpPr>
        <p:spPr>
          <a:xfrm>
            <a:off x="905256" y="2276856"/>
            <a:ext cx="2103120" cy="566928"/>
          </a:xfrm>
          <a:prstGeom prst="rect">
            <a:avLst/>
          </a:prstGeom>
          <a:noFill/>
          <a:ln/>
        </p:spPr>
        <p:txBody>
          <a:bodyPr wrap="square" lIns="0" tIns="0" rIns="0" bIns="0" rtlCol="0" anchor="ctr"/>
          <a:lstStyle/>
          <a:p>
            <a:pPr algn="l" indent="0" marL="0">
              <a:buNone/>
            </a:pPr>
            <a:r>
              <a:rPr lang="en-US" sz="3200" b="1" dirty="0">
                <a:solidFill>
                  <a:srgbClr val="FF7A18"/>
                </a:solidFill>
                <a:latin typeface="Arial" pitchFamily="34" charset="0"/>
                <a:ea typeface="Arial" pitchFamily="34" charset="-122"/>
                <a:cs typeface="Arial" pitchFamily="34" charset="-120"/>
              </a:rPr>
              <a:t>2.5s</a:t>
            </a:r>
            <a:endParaRPr lang="en-US" sz="3200" dirty="0"/>
          </a:p>
        </p:txBody>
      </p:sp>
      <p:sp>
        <p:nvSpPr>
          <p:cNvPr id="7" name="kv0_l"/>
          <p:cNvSpPr txBox="1"/>
          <p:nvPr/>
        </p:nvSpPr>
        <p:spPr>
          <a:xfrm>
            <a:off x="905256" y="2825496"/>
            <a:ext cx="210312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marker to compiling</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React component</a:t>
            </a:r>
            <a:endParaRPr lang="en-US" sz="1100" dirty="0"/>
          </a:p>
        </p:txBody>
      </p:sp>
      <p:sp>
        <p:nvSpPr>
          <p:cNvPr id="8" name="k1"/>
          <p:cNvSpPr/>
          <p:nvPr/>
        </p:nvSpPr>
        <p:spPr>
          <a:xfrm>
            <a:off x="3383280" y="2057400"/>
            <a:ext cx="2468880" cy="1481328"/>
          </a:xfrm>
          <a:prstGeom prst="roundRect">
            <a:avLst>
              <a:gd name="adj" fmla="val 6173"/>
            </a:avLst>
          </a:prstGeom>
          <a:solidFill>
            <a:srgbClr val="121A2E">
              <a:alpha val="86000"/>
            </a:srgbClr>
          </a:solidFill>
          <a:ln w="12700">
            <a:solidFill>
              <a:srgbClr val="26314E"/>
            </a:solidFill>
            <a:prstDash val="solid"/>
          </a:ln>
        </p:spPr>
      </p:sp>
      <p:sp>
        <p:nvSpPr>
          <p:cNvPr id="9" name="kv1"/>
          <p:cNvSpPr txBox="1"/>
          <p:nvPr/>
        </p:nvSpPr>
        <p:spPr>
          <a:xfrm>
            <a:off x="3602736" y="2276856"/>
            <a:ext cx="2103120" cy="566928"/>
          </a:xfrm>
          <a:prstGeom prst="rect">
            <a:avLst/>
          </a:prstGeom>
          <a:noFill/>
          <a:ln/>
        </p:spPr>
        <p:txBody>
          <a:bodyPr wrap="square" lIns="0" tIns="0" rIns="0" bIns="0" rtlCol="0" anchor="ctr"/>
          <a:lstStyle/>
          <a:p>
            <a:pPr algn="l" indent="0" marL="0">
              <a:buNone/>
            </a:pPr>
            <a:r>
              <a:rPr lang="en-US" sz="3200" b="1" dirty="0">
                <a:solidFill>
                  <a:srgbClr val="FF7A18"/>
                </a:solidFill>
                <a:latin typeface="Arial" pitchFamily="34" charset="0"/>
                <a:ea typeface="Arial" pitchFamily="34" charset="-122"/>
                <a:cs typeface="Arial" pitchFamily="34" charset="-120"/>
              </a:rPr>
              <a:t>1.2s</a:t>
            </a:r>
            <a:endParaRPr lang="en-US" sz="3200" dirty="0"/>
          </a:p>
        </p:txBody>
      </p:sp>
      <p:sp>
        <p:nvSpPr>
          <p:cNvPr id="10" name="kv1_l"/>
          <p:cNvSpPr txBox="1"/>
          <p:nvPr/>
        </p:nvSpPr>
        <p:spPr>
          <a:xfrm>
            <a:off x="3602736" y="2825496"/>
            <a:ext cx="210312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NPU inference on the</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Hexagon HTP</a:t>
            </a:r>
            <a:endParaRPr lang="en-US" sz="1100" dirty="0"/>
          </a:p>
        </p:txBody>
      </p:sp>
      <p:sp>
        <p:nvSpPr>
          <p:cNvPr id="11" name="k2"/>
          <p:cNvSpPr/>
          <p:nvPr/>
        </p:nvSpPr>
        <p:spPr>
          <a:xfrm>
            <a:off x="685800" y="3721608"/>
            <a:ext cx="2468880" cy="1481328"/>
          </a:xfrm>
          <a:prstGeom prst="roundRect">
            <a:avLst>
              <a:gd name="adj" fmla="val 6173"/>
            </a:avLst>
          </a:prstGeom>
          <a:solidFill>
            <a:srgbClr val="121A2E">
              <a:alpha val="86000"/>
            </a:srgbClr>
          </a:solidFill>
          <a:ln w="12700">
            <a:solidFill>
              <a:srgbClr val="26314E"/>
            </a:solidFill>
            <a:prstDash val="solid"/>
          </a:ln>
        </p:spPr>
      </p:sp>
      <p:sp>
        <p:nvSpPr>
          <p:cNvPr id="12" name="kv2"/>
          <p:cNvSpPr txBox="1"/>
          <p:nvPr/>
        </p:nvSpPr>
        <p:spPr>
          <a:xfrm>
            <a:off x="905256" y="3941064"/>
            <a:ext cx="2103120" cy="566928"/>
          </a:xfrm>
          <a:prstGeom prst="rect">
            <a:avLst/>
          </a:prstGeom>
          <a:noFill/>
          <a:ln/>
        </p:spPr>
        <p:txBody>
          <a:bodyPr wrap="square" lIns="0" tIns="0" rIns="0" bIns="0" rtlCol="0" anchor="ctr"/>
          <a:lstStyle/>
          <a:p>
            <a:pPr algn="l" indent="0" marL="0">
              <a:buNone/>
            </a:pPr>
            <a:r>
              <a:rPr lang="en-US" sz="3200" b="1" dirty="0">
                <a:solidFill>
                  <a:srgbClr val="22D3EE"/>
                </a:solidFill>
                <a:latin typeface="Arial" pitchFamily="34" charset="0"/>
                <a:ea typeface="Arial" pitchFamily="34" charset="-122"/>
                <a:cs typeface="Arial" pitchFamily="34" charset="-120"/>
              </a:rPr>
              <a:t>500M</a:t>
            </a:r>
            <a:endParaRPr lang="en-US" sz="3200" dirty="0"/>
          </a:p>
        </p:txBody>
      </p:sp>
      <p:sp>
        <p:nvSpPr>
          <p:cNvPr id="13" name="kv2_l"/>
          <p:cNvSpPr txBox="1"/>
          <p:nvPr/>
        </p:nvSpPr>
        <p:spPr>
          <a:xfrm>
            <a:off x="905256" y="4489704"/>
            <a:ext cx="210312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parameters, INT4</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quantised on device</a:t>
            </a:r>
            <a:endParaRPr lang="en-US" sz="1100" dirty="0"/>
          </a:p>
        </p:txBody>
      </p:sp>
      <p:sp>
        <p:nvSpPr>
          <p:cNvPr id="14" name="k3"/>
          <p:cNvSpPr/>
          <p:nvPr/>
        </p:nvSpPr>
        <p:spPr>
          <a:xfrm>
            <a:off x="3383280" y="3721608"/>
            <a:ext cx="2468880" cy="1481328"/>
          </a:xfrm>
          <a:prstGeom prst="roundRect">
            <a:avLst>
              <a:gd name="adj" fmla="val 6173"/>
            </a:avLst>
          </a:prstGeom>
          <a:solidFill>
            <a:srgbClr val="121A2E">
              <a:alpha val="86000"/>
            </a:srgbClr>
          </a:solidFill>
          <a:ln w="12700">
            <a:solidFill>
              <a:srgbClr val="26314E"/>
            </a:solidFill>
            <a:prstDash val="solid"/>
          </a:ln>
        </p:spPr>
      </p:sp>
      <p:sp>
        <p:nvSpPr>
          <p:cNvPr id="15" name="kv3"/>
          <p:cNvSpPr txBox="1"/>
          <p:nvPr/>
        </p:nvSpPr>
        <p:spPr>
          <a:xfrm>
            <a:off x="3602736" y="3941064"/>
            <a:ext cx="2103120" cy="566928"/>
          </a:xfrm>
          <a:prstGeom prst="rect">
            <a:avLst/>
          </a:prstGeom>
          <a:noFill/>
          <a:ln/>
        </p:spPr>
        <p:txBody>
          <a:bodyPr wrap="square" lIns="0" tIns="0" rIns="0" bIns="0" rtlCol="0" anchor="ctr"/>
          <a:lstStyle/>
          <a:p>
            <a:pPr algn="l" indent="0" marL="0">
              <a:buNone/>
            </a:pPr>
            <a:r>
              <a:rPr lang="en-US" sz="3200" b="1" dirty="0">
                <a:solidFill>
                  <a:srgbClr val="22D3EE"/>
                </a:solidFill>
                <a:latin typeface="Arial" pitchFamily="34" charset="0"/>
                <a:ea typeface="Arial" pitchFamily="34" charset="-122"/>
                <a:cs typeface="Arial" pitchFamily="34" charset="-120"/>
              </a:rPr>
              <a:t>0</a:t>
            </a:r>
            <a:endParaRPr lang="en-US" sz="3200" dirty="0"/>
          </a:p>
        </p:txBody>
      </p:sp>
      <p:sp>
        <p:nvSpPr>
          <p:cNvPr id="16" name="kv3_l"/>
          <p:cNvSpPr txBox="1"/>
          <p:nvPr/>
        </p:nvSpPr>
        <p:spPr>
          <a:xfrm>
            <a:off x="3602736" y="4489704"/>
            <a:ext cx="2103120" cy="457200"/>
          </a:xfrm>
          <a:prstGeom prst="rect">
            <a:avLst/>
          </a:prstGeom>
          <a:noFill/>
          <a:ln/>
        </p:spPr>
        <p:txBody>
          <a:bodyPr wrap="square" lIns="0" tIns="0" rIns="0" bIns="0" rtlCol="0" anchor="t"/>
          <a:lstStyle/>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bytes sent to any</a:t>
            </a:r>
            <a:endParaRPr lang="en-US" sz="1100" dirty="0"/>
          </a:p>
          <a:p>
            <a:pPr algn="l" indent="0" marL="0">
              <a:lnSpc>
                <a:spcPct val="110000"/>
              </a:lnSpc>
              <a:buNone/>
            </a:pPr>
            <a:r>
              <a:rPr lang="en-US" sz="1100" dirty="0">
                <a:solidFill>
                  <a:srgbClr val="8A94AB"/>
                </a:solidFill>
                <a:latin typeface="Arial" pitchFamily="34" charset="0"/>
                <a:ea typeface="Arial" pitchFamily="34" charset="-122"/>
                <a:cs typeface="Arial" pitchFamily="34" charset="-120"/>
              </a:rPr>
              <a:t>external service</a:t>
            </a:r>
            <a:endParaRPr lang="en-US" sz="1100" dirty="0"/>
          </a:p>
        </p:txBody>
      </p:sp>
      <p:sp>
        <p:nvSpPr>
          <p:cNvPr id="17" name="chartbox"/>
          <p:cNvSpPr/>
          <p:nvPr/>
        </p:nvSpPr>
        <p:spPr>
          <a:xfrm>
            <a:off x="5989320" y="2057400"/>
            <a:ext cx="5513832" cy="3099816"/>
          </a:xfrm>
          <a:prstGeom prst="roundRect">
            <a:avLst>
              <a:gd name="adj" fmla="val 2360"/>
            </a:avLst>
          </a:prstGeom>
          <a:solidFill>
            <a:srgbClr val="121A2E">
              <a:alpha val="90000"/>
            </a:srgbClr>
          </a:solidFill>
          <a:ln w="12700">
            <a:solidFill>
              <a:srgbClr val="26314E"/>
            </a:solidFill>
            <a:prstDash val="solid"/>
          </a:ln>
        </p:spPr>
      </p:sp>
      <p:graphicFrame>
        <p:nvGraphicFramePr>
          <p:cNvPr id="18" name="Chart 0" descr=""/>
          <p:cNvGraphicFramePr/>
          <p:nvPr/>
        </p:nvGraphicFramePr>
        <p:xfrm>
          <a:off x="6080760" y="2148840"/>
          <a:ext cx="5330952" cy="2916936"/>
        </p:xfrm>
        <a:graphic xmlns:a="http://schemas.openxmlformats.org/drawingml/2006/main">
          <a:graphicData uri="http://schemas.openxmlformats.org/drawingml/2006/chart">
            <c:chart xmlns:c="http://schemas.openxmlformats.org/drawingml/2006/chart" r:id="rId2"/>
          </a:graphicData>
        </a:graphic>
      </p:graphicFrame>
      <p:sp>
        <p:nvSpPr>
          <p:cNvPr id="19" name="note"/>
          <p:cNvSpPr txBox="1"/>
          <p:nvPr/>
        </p:nvSpPr>
        <p:spPr>
          <a:xfrm>
            <a:off x="685800" y="5623560"/>
            <a:ext cx="10817352" cy="329184"/>
          </a:xfrm>
          <a:prstGeom prst="rect">
            <a:avLst/>
          </a:prstGeom>
          <a:noFill/>
          <a:ln/>
        </p:spPr>
        <p:txBody>
          <a:bodyPr wrap="square" lIns="0" tIns="0" rIns="0" bIns="0" rtlCol="0" anchor="ctr"/>
          <a:lstStyle/>
          <a:p>
            <a:pPr indent="0" marL="0">
              <a:buNone/>
            </a:pPr>
            <a:r>
              <a:rPr lang="en-US" sz="1150" i="1" dirty="0">
                <a:solidFill>
                  <a:srgbClr val="8A94AB"/>
                </a:solidFill>
                <a:latin typeface="Arial" pitchFamily="34" charset="0"/>
                <a:ea typeface="Arial" pitchFamily="34" charset="-122"/>
                <a:cs typeface="Arial" pitchFamily="34" charset="-120"/>
              </a:rPr>
              <a:t>Stage budget measured on Snapdragon 8s Gen 3 via Qualcomm AI Hub. Adjust these to your own benchmark run before presenting.</a:t>
            </a:r>
            <a:endParaRPr lang="en-US" sz="11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80"/>
                                        <p:tgtEl>
                                          <p:spTgt spid="5"/>
                                        </p:tgtEl>
                                      </p:cBhvr>
                                    </p:animEffect>
                                    <p:animScale>
                                      <p:cBhvr>
                                        <p:cTn id="15" dur="380" fill="hold"/>
                                        <p:tgtEl>
                                          <p:spTgt spid="5"/>
                                        </p:tgtEl>
                                      </p:cBhvr>
                                      <p:from x="62000" y="62000"/>
                                      <p:to x="100000" y="100000"/>
                                    </p:animScale>
                                  </p:childTnLst>
                                </p:cTn>
                              </p:par>
                              <p:par>
                                <p:cTn id="16" presetID="10" presetClass="entr" presetSubtype="0" fill="hold" grpId="0" nodeType="withEffect">
                                  <p:stCondLst>
                                    <p:cond delay="8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childTnLst>
                                </p:cTn>
                              </p:par>
                              <p:par>
                                <p:cTn id="19" presetID="10" presetClass="entr" presetSubtype="0" fill="hold" grpId="0" nodeType="withEffect">
                                  <p:stCondLst>
                                    <p:cond delay="16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50"/>
                                        <p:tgtEl>
                                          <p:spTgt spid="7"/>
                                        </p:tgtEl>
                                      </p:cBhvr>
                                    </p:animEffect>
                                  </p:childTnLst>
                                </p:cTn>
                              </p:par>
                              <p:par>
                                <p:cTn id="22" presetID="23" presetClass="entr" presetSubtype="16"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80"/>
                                        <p:tgtEl>
                                          <p:spTgt spid="8"/>
                                        </p:tgtEl>
                                      </p:cBhvr>
                                    </p:animEffect>
                                    <p:animScale>
                                      <p:cBhvr>
                                        <p:cTn id="25" dur="380" fill="hold"/>
                                        <p:tgtEl>
                                          <p:spTgt spid="8"/>
                                        </p:tgtEl>
                                      </p:cBhvr>
                                      <p:from x="62000" y="62000"/>
                                      <p:to x="100000" y="100000"/>
                                    </p:animScale>
                                  </p:childTnLst>
                                </p:cTn>
                              </p:par>
                              <p:par>
                                <p:cTn id="26" presetID="10" presetClass="entr" presetSubtype="0" fill="hold" grpId="0" nodeType="withEffect">
                                  <p:stCondLst>
                                    <p:cond delay="2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5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50"/>
                                        <p:tgtEl>
                                          <p:spTgt spid="10"/>
                                        </p:tgtEl>
                                      </p:cBhvr>
                                    </p:animEffect>
                                  </p:childTnLst>
                                </p:cTn>
                              </p:par>
                              <p:par>
                                <p:cTn id="32" presetID="23" presetClass="entr" presetSubtype="16" fill="hold" grpId="0" nodeType="withEffect">
                                  <p:stCondLst>
                                    <p:cond delay="4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80"/>
                                        <p:tgtEl>
                                          <p:spTgt spid="11"/>
                                        </p:tgtEl>
                                      </p:cBhvr>
                                    </p:animEffect>
                                    <p:animScale>
                                      <p:cBhvr>
                                        <p:cTn id="35" dur="380" fill="hold"/>
                                        <p:tgtEl>
                                          <p:spTgt spid="11"/>
                                        </p:tgtEl>
                                      </p:cBhvr>
                                      <p:from x="62000" y="62000"/>
                                      <p:to x="100000" y="100000"/>
                                    </p:animScale>
                                  </p:childTnLst>
                                </p:cTn>
                              </p:par>
                              <p:par>
                                <p:cTn id="36" presetID="10" presetClass="entr" presetSubtype="0" fill="hold" grpId="0" nodeType="withEffect">
                                  <p:stCondLst>
                                    <p:cond delay="48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50"/>
                                        <p:tgtEl>
                                          <p:spTgt spid="12"/>
                                        </p:tgtEl>
                                      </p:cBhvr>
                                    </p:animEffect>
                                  </p:childTnLst>
                                </p:cTn>
                              </p:par>
                              <p:par>
                                <p:cTn id="39" presetID="10" presetClass="entr" presetSubtype="0" fill="hold" grpId="0" nodeType="withEffect">
                                  <p:stCondLst>
                                    <p:cond delay="56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350"/>
                                        <p:tgtEl>
                                          <p:spTgt spid="13"/>
                                        </p:tgtEl>
                                      </p:cBhvr>
                                    </p:animEffect>
                                  </p:childTnLst>
                                </p:cTn>
                              </p:par>
                              <p:par>
                                <p:cTn id="42" presetID="23" presetClass="entr" presetSubtype="16" fill="hold" grpId="0" nodeType="withEffect">
                                  <p:stCondLst>
                                    <p:cond delay="6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80"/>
                                        <p:tgtEl>
                                          <p:spTgt spid="14"/>
                                        </p:tgtEl>
                                      </p:cBhvr>
                                    </p:animEffect>
                                    <p:animScale>
                                      <p:cBhvr>
                                        <p:cTn id="45" dur="380" fill="hold"/>
                                        <p:tgtEl>
                                          <p:spTgt spid="14"/>
                                        </p:tgtEl>
                                      </p:cBhvr>
                                      <p:from x="62000" y="62000"/>
                                      <p:to x="100000" y="100000"/>
                                    </p:animScale>
                                  </p:childTnLst>
                                </p:cTn>
                              </p:par>
                              <p:par>
                                <p:cTn id="46" presetID="10" presetClass="entr" presetSubtype="0" fill="hold" grpId="0" nodeType="withEffect">
                                  <p:stCondLst>
                                    <p:cond delay="68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50"/>
                                        <p:tgtEl>
                                          <p:spTgt spid="15"/>
                                        </p:tgtEl>
                                      </p:cBhvr>
                                    </p:animEffect>
                                  </p:childTnLst>
                                </p:cTn>
                              </p:par>
                              <p:par>
                                <p:cTn id="49" presetID="10" presetClass="entr" presetSubtype="0" fill="hold" grpId="0" nodeType="withEffect">
                                  <p:stCondLst>
                                    <p:cond delay="76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350"/>
                                        <p:tgtEl>
                                          <p:spTgt spid="16"/>
                                        </p:tgtEl>
                                      </p:cBhvr>
                                    </p:animEffect>
                                  </p:childTnLst>
                                </p:cTn>
                              </p:par>
                            </p:childTnLst>
                          </p:cTn>
                        </p:par>
                      </p:childTnLst>
                    </p:cTn>
                  </p:par>
                  <p:par>
                    <p:cTn id="57" fill="hold">
                      <p:stCondLst>
                        <p:cond delay="indefinite"/>
                      </p:stCondLst>
                      <p:childTnLst>
                        <p:par>
                          <p:cTn id="58"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400"/>
                                        <p:tgtEl>
                                          <p:spTgt spid="17"/>
                                        </p:tgtEl>
                                      </p:cBhvr>
                                    </p:animEffect>
                                  </p:childTnLst>
                                </p:cTn>
                              </p:par>
                            </p:childTnLst>
                          </p:cTn>
                        </p:par>
                      </p:childTnLst>
                    </p:cTn>
                  </p:par>
                  <p:par>
                    <p:cTn id="62" fill="hold">
                      <p:stCondLst>
                        <p:cond delay="indefinite"/>
                      </p:stCondLst>
                      <p:childTnLst>
                        <p:par>
                          <p:cTn id="6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MARKET POTENTIAL · WHO NEEDS THIS</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Three audiences, </a:t>
            </a:r>
            <a:pPr algn="l" indent="0" marL="0">
              <a:buNone/>
            </a:pPr>
            <a:r>
              <a:rPr lang="en-US" sz="3300" b="1" dirty="0">
                <a:solidFill>
                  <a:srgbClr val="FF7A18"/>
                </a:solidFill>
                <a:latin typeface="Arial" pitchFamily="34" charset="0"/>
                <a:ea typeface="Arial" pitchFamily="34" charset="-122"/>
                <a:cs typeface="Arial" pitchFamily="34" charset="-120"/>
              </a:rPr>
              <a:t>one bottleneck.</a:t>
            </a:r>
            <a:endParaRPr lang="en-US" sz="3300" dirty="0"/>
          </a:p>
        </p:txBody>
      </p:sp>
      <p:sp>
        <p:nvSpPr>
          <p:cNvPr id="5" name="c0"/>
          <p:cNvSpPr/>
          <p:nvPr/>
        </p:nvSpPr>
        <p:spPr>
          <a:xfrm>
            <a:off x="65836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6" name="ci0"/>
          <p:cNvSpPr/>
          <p:nvPr/>
        </p:nvSpPr>
        <p:spPr>
          <a:xfrm>
            <a:off x="932688" y="2331720"/>
            <a:ext cx="658368" cy="658368"/>
          </a:xfrm>
          <a:prstGeom prst="ellipse">
            <a:avLst/>
          </a:prstGeom>
          <a:solidFill>
            <a:srgbClr val="FF7A18">
              <a:alpha val="16000"/>
            </a:srgbClr>
          </a:solidFill>
          <a:ln w="15875">
            <a:solidFill>
              <a:srgbClr val="FF7A18"/>
            </a:solidFill>
            <a:prstDash val="solid"/>
          </a:ln>
        </p:spPr>
      </p:sp>
      <p:pic>
        <p:nvPicPr>
          <p:cNvPr id="7" name="ci0_i" descr="/home/claude/build/img/ic_briefcase_em.png">    </p:cNvPr>
          <p:cNvPicPr>
            <a:picLocks noChangeAspect="1"/>
          </p:cNvPicPr>
          <p:nvPr/>
        </p:nvPicPr>
        <p:blipFill>
          <a:blip r:embed="rId2"/>
          <a:stretch>
            <a:fillRect/>
          </a:stretch>
        </p:blipFill>
        <p:spPr>
          <a:xfrm>
            <a:off x="1103864" y="2502896"/>
            <a:ext cx="316017" cy="316017"/>
          </a:xfrm>
          <a:prstGeom prst="rect">
            <a:avLst/>
          </a:prstGeom>
        </p:spPr>
      </p:pic>
      <p:sp>
        <p:nvSpPr>
          <p:cNvPr id="8" name="ct0"/>
          <p:cNvSpPr txBox="1"/>
          <p:nvPr/>
        </p:nvSpPr>
        <p:spPr>
          <a:xfrm>
            <a:off x="932688" y="3127248"/>
            <a:ext cx="2834640" cy="457200"/>
          </a:xfrm>
          <a:prstGeom prst="rect">
            <a:avLst/>
          </a:prstGeom>
          <a:noFill/>
          <a:ln/>
        </p:spPr>
        <p:txBody>
          <a:bodyPr wrap="square" lIns="0" tIns="0" rIns="0" bIns="0" rtlCol="0" anchor="t"/>
          <a:lstStyle/>
          <a:p>
            <a:pPr indent="0" marL="0">
              <a:lnSpc>
                <a:spcPct val="110000"/>
              </a:lnSpc>
              <a:buNone/>
            </a:pPr>
            <a:r>
              <a:rPr lang="en-US" sz="1400" b="1" spc="100" kern="0" dirty="0">
                <a:solidFill>
                  <a:srgbClr val="E8ECF5"/>
                </a:solidFill>
                <a:latin typeface="Arial" pitchFamily="34" charset="0"/>
                <a:ea typeface="Arial" pitchFamily="34" charset="-122"/>
                <a:cs typeface="Arial" pitchFamily="34" charset="-120"/>
              </a:rPr>
              <a:t>ENTERPRISE DEV TEAMS</a:t>
            </a:r>
            <a:endParaRPr lang="en-US" sz="1400" dirty="0"/>
          </a:p>
        </p:txBody>
      </p:sp>
      <p:sp>
        <p:nvSpPr>
          <p:cNvPr id="9" name="cb0"/>
          <p:cNvSpPr txBox="1"/>
          <p:nvPr/>
        </p:nvSpPr>
        <p:spPr>
          <a:xfrm>
            <a:off x="932688" y="3639312"/>
            <a:ext cx="2834640" cy="146304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Banks, health and defence suppliers who cannot post an unreleased screen to a public API — and who already have a mature internal component library to map onto.</a:t>
            </a:r>
            <a:endParaRPr lang="en-US" sz="1150" dirty="0"/>
          </a:p>
        </p:txBody>
      </p:sp>
      <p:sp>
        <p:nvSpPr>
          <p:cNvPr id="10" name="c1"/>
          <p:cNvSpPr/>
          <p:nvPr/>
        </p:nvSpPr>
        <p:spPr>
          <a:xfrm>
            <a:off x="440740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11" name="ci1"/>
          <p:cNvSpPr/>
          <p:nvPr/>
        </p:nvSpPr>
        <p:spPr>
          <a:xfrm>
            <a:off x="4681728" y="2331720"/>
            <a:ext cx="658368" cy="658368"/>
          </a:xfrm>
          <a:prstGeom prst="ellipse">
            <a:avLst/>
          </a:prstGeom>
          <a:solidFill>
            <a:srgbClr val="FFB347">
              <a:alpha val="16000"/>
            </a:srgbClr>
          </a:solidFill>
          <a:ln w="15875">
            <a:solidFill>
              <a:srgbClr val="FFB347"/>
            </a:solidFill>
            <a:prstDash val="solid"/>
          </a:ln>
        </p:spPr>
      </p:sp>
      <p:pic>
        <p:nvPicPr>
          <p:cNvPr id="12" name="ci1_i" descr="/home/claude/build/img/ic_layers_em.png">    </p:cNvPr>
          <p:cNvPicPr>
            <a:picLocks noChangeAspect="1"/>
          </p:cNvPicPr>
          <p:nvPr/>
        </p:nvPicPr>
        <p:blipFill>
          <a:blip r:embed="rId3"/>
          <a:stretch>
            <a:fillRect/>
          </a:stretch>
        </p:blipFill>
        <p:spPr>
          <a:xfrm>
            <a:off x="4852904" y="2502896"/>
            <a:ext cx="316017" cy="316017"/>
          </a:xfrm>
          <a:prstGeom prst="rect">
            <a:avLst/>
          </a:prstGeom>
        </p:spPr>
      </p:pic>
      <p:sp>
        <p:nvSpPr>
          <p:cNvPr id="13" name="ct1"/>
          <p:cNvSpPr txBox="1"/>
          <p:nvPr/>
        </p:nvSpPr>
        <p:spPr>
          <a:xfrm>
            <a:off x="4681728" y="3127248"/>
            <a:ext cx="2834640" cy="457200"/>
          </a:xfrm>
          <a:prstGeom prst="rect">
            <a:avLst/>
          </a:prstGeom>
          <a:noFill/>
          <a:ln/>
        </p:spPr>
        <p:txBody>
          <a:bodyPr wrap="square" lIns="0" tIns="0" rIns="0" bIns="0" rtlCol="0" anchor="t"/>
          <a:lstStyle/>
          <a:p>
            <a:pPr indent="0" marL="0">
              <a:lnSpc>
                <a:spcPct val="110000"/>
              </a:lnSpc>
              <a:buNone/>
            </a:pPr>
            <a:r>
              <a:rPr lang="en-US" sz="1400" b="1" spc="100" kern="0" dirty="0">
                <a:solidFill>
                  <a:srgbClr val="E8ECF5"/>
                </a:solidFill>
                <a:latin typeface="Arial" pitchFamily="34" charset="0"/>
                <a:ea typeface="Arial" pitchFamily="34" charset="-122"/>
                <a:cs typeface="Arial" pitchFamily="34" charset="-120"/>
              </a:rPr>
              <a:t>AGENCIES &amp; PROTOTYPERS</a:t>
            </a:r>
            <a:endParaRPr lang="en-US" sz="1400" dirty="0"/>
          </a:p>
        </p:txBody>
      </p:sp>
      <p:sp>
        <p:nvSpPr>
          <p:cNvPr id="14" name="cb1"/>
          <p:cNvSpPr txBox="1"/>
          <p:nvPr/>
        </p:nvSpPr>
        <p:spPr>
          <a:xfrm>
            <a:off x="4681728" y="3639312"/>
            <a:ext cx="2834640" cy="146304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Sketch with the client in the workshop, hand them something clickable before the coffee goes cold. The whiteboard stops being throwaway.</a:t>
            </a:r>
            <a:endParaRPr lang="en-US" sz="1150" dirty="0"/>
          </a:p>
        </p:txBody>
      </p:sp>
      <p:sp>
        <p:nvSpPr>
          <p:cNvPr id="15" name="c2"/>
          <p:cNvSpPr/>
          <p:nvPr/>
        </p:nvSpPr>
        <p:spPr>
          <a:xfrm>
            <a:off x="815644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16" name="ci2"/>
          <p:cNvSpPr/>
          <p:nvPr/>
        </p:nvSpPr>
        <p:spPr>
          <a:xfrm>
            <a:off x="8430768" y="2331720"/>
            <a:ext cx="658368" cy="658368"/>
          </a:xfrm>
          <a:prstGeom prst="ellipse">
            <a:avLst/>
          </a:prstGeom>
          <a:solidFill>
            <a:srgbClr val="22D3EE">
              <a:alpha val="16000"/>
            </a:srgbClr>
          </a:solidFill>
          <a:ln w="15875">
            <a:solidFill>
              <a:srgbClr val="22D3EE"/>
            </a:solidFill>
            <a:prstDash val="solid"/>
          </a:ln>
        </p:spPr>
      </p:sp>
      <p:pic>
        <p:nvPicPr>
          <p:cNvPr id="17" name="ci2_i" descr="/home/claude/build/img/ic_award_si.png">    </p:cNvPr>
          <p:cNvPicPr>
            <a:picLocks noChangeAspect="1"/>
          </p:cNvPicPr>
          <p:nvPr/>
        </p:nvPicPr>
        <p:blipFill>
          <a:blip r:embed="rId4"/>
          <a:stretch>
            <a:fillRect/>
          </a:stretch>
        </p:blipFill>
        <p:spPr>
          <a:xfrm>
            <a:off x="8601944" y="2502896"/>
            <a:ext cx="316017" cy="316017"/>
          </a:xfrm>
          <a:prstGeom prst="rect">
            <a:avLst/>
          </a:prstGeom>
        </p:spPr>
      </p:pic>
      <p:sp>
        <p:nvSpPr>
          <p:cNvPr id="18" name="ct2"/>
          <p:cNvSpPr txBox="1"/>
          <p:nvPr/>
        </p:nvSpPr>
        <p:spPr>
          <a:xfrm>
            <a:off x="8430768" y="3127248"/>
            <a:ext cx="2834640" cy="457200"/>
          </a:xfrm>
          <a:prstGeom prst="rect">
            <a:avLst/>
          </a:prstGeom>
          <a:noFill/>
          <a:ln/>
        </p:spPr>
        <p:txBody>
          <a:bodyPr wrap="square" lIns="0" tIns="0" rIns="0" bIns="0" rtlCol="0" anchor="t"/>
          <a:lstStyle/>
          <a:p>
            <a:pPr indent="0" marL="0">
              <a:lnSpc>
                <a:spcPct val="110000"/>
              </a:lnSpc>
              <a:buNone/>
            </a:pPr>
            <a:r>
              <a:rPr lang="en-US" sz="1400" b="1" spc="100" kern="0" dirty="0">
                <a:solidFill>
                  <a:srgbClr val="E8ECF5"/>
                </a:solidFill>
                <a:latin typeface="Arial" pitchFamily="34" charset="0"/>
                <a:ea typeface="Arial" pitchFamily="34" charset="-122"/>
                <a:cs typeface="Arial" pitchFamily="34" charset="-120"/>
              </a:rPr>
              <a:t>HACKATHONS &amp; INDIE DEVS</a:t>
            </a:r>
            <a:endParaRPr lang="en-US" sz="1400" dirty="0"/>
          </a:p>
        </p:txBody>
      </p:sp>
      <p:sp>
        <p:nvSpPr>
          <p:cNvPr id="19" name="cb2"/>
          <p:cNvSpPr txBox="1"/>
          <p:nvPr/>
        </p:nvSpPr>
        <p:spPr>
          <a:xfrm>
            <a:off x="8430768" y="3639312"/>
            <a:ext cx="2834640" cy="146304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No API bill, no rate limit, and no dependency on venue Wi-Fi — which, as everyone in this room knows, is the real constraint.</a:t>
            </a:r>
            <a:endParaRPr lang="en-US" sz="1150" dirty="0"/>
          </a:p>
        </p:txBody>
      </p:sp>
      <p:sp>
        <p:nvSpPr>
          <p:cNvPr id="20" name="note"/>
          <p:cNvSpPr txBox="1"/>
          <p:nvPr/>
        </p:nvSpPr>
        <p:spPr>
          <a:xfrm>
            <a:off x="685800" y="5669280"/>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SnapForge closes the physical-to-digital gap securely, and closes it in seconds.</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12" presetID="4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additive="base">
                                        <p:cTn id="15" dur="500" fill="hold"/>
                                        <p:tgtEl>
                                          <p:spTgt spid="5"/>
                                        </p:tgtEl>
                                        <p:attrNameLst>
                                          <p:attrName>ppt_y</p:attrName>
                                        </p:attrNameLst>
                                      </p:cBhvr>
                                      <p:tavLst>
                                        <p:tav tm="0">
                                          <p:val>
                                            <p:strVal val="#ppt_y+0.045"/>
                                          </p:val>
                                        </p:tav>
                                        <p:tav tm="100000">
                                          <p:val>
                                            <p:strVal val="#ppt_y"/>
                                          </p:val>
                                        </p:tav>
                                      </p:tavLst>
                                    </p:anim>
                                  </p:childTnLst>
                                </p:cTn>
                              </p:par>
                              <p:par>
                                <p:cTn id="16" presetID="23" presetClass="entr" presetSubtype="16" fill="hold" grpId="0" nodeType="withEffect">
                                  <p:stCondLst>
                                    <p:cond delay="1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animScale>
                                      <p:cBhvr>
                                        <p:cTn id="19" dur="350" fill="hold"/>
                                        <p:tgtEl>
                                          <p:spTgt spid="6"/>
                                        </p:tgtEl>
                                      </p:cBhvr>
                                      <p:from x="62000" y="62000"/>
                                      <p:to x="100000" y="100000"/>
                                    </p:animScale>
                                  </p:childTnLst>
                                </p:cTn>
                              </p:par>
                              <p:par>
                                <p:cTn id="20" presetID="23" presetClass="entr" presetSubtype="16" fill="hold" grpId="0" nodeType="withEffect">
                                  <p:stCondLst>
                                    <p:cond delay="1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Scale>
                                      <p:cBhvr>
                                        <p:cTn id="23" dur="350" fill="hold"/>
                                        <p:tgtEl>
                                          <p:spTgt spid="7"/>
                                        </p:tgtEl>
                                      </p:cBhvr>
                                      <p:from x="62000" y="62000"/>
                                      <p:to x="100000" y="100000"/>
                                    </p:animScale>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38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childTnLst>
                                </p:cTn>
                              </p:par>
                            </p:childTnLst>
                          </p:cTn>
                        </p:par>
                      </p:childTnLst>
                    </p:cTn>
                  </p:par>
                  <p:par>
                    <p:cTn id="50" fill="hold">
                      <p:stCondLst>
                        <p:cond delay="indefinite"/>
                      </p:stCondLst>
                      <p:childTnLst>
                        <p:par>
                          <p:cTn id="51" fill="hold">
                            <p:stCondLst>
                              <p:cond delay="0"/>
                            </p:stCondLst>
                            <p:childTnLst>
                              <p:par>
                                <p:cTn id="32" presetID="4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additive="base">
                                        <p:cTn id="35" dur="500" fill="hold"/>
                                        <p:tgtEl>
                                          <p:spTgt spid="10"/>
                                        </p:tgtEl>
                                        <p:attrNameLst>
                                          <p:attrName>ppt_y</p:attrName>
                                        </p:attrNameLst>
                                      </p:cBhvr>
                                      <p:tavLst>
                                        <p:tav tm="0">
                                          <p:val>
                                            <p:strVal val="#ppt_y+0.045"/>
                                          </p:val>
                                        </p:tav>
                                        <p:tav tm="100000">
                                          <p:val>
                                            <p:strVal val="#ppt_y"/>
                                          </p:val>
                                        </p:tav>
                                      </p:tavLst>
                                    </p:anim>
                                  </p:childTnLst>
                                </p:cTn>
                              </p:par>
                              <p:par>
                                <p:cTn id="36" presetID="23" presetClass="entr" presetSubtype="16" fill="hold" grpId="0" nodeType="withEffect">
                                  <p:stCondLst>
                                    <p:cond delay="15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50"/>
                                        <p:tgtEl>
                                          <p:spTgt spid="11"/>
                                        </p:tgtEl>
                                      </p:cBhvr>
                                    </p:animEffect>
                                    <p:animScale>
                                      <p:cBhvr>
                                        <p:cTn id="39" dur="350" fill="hold"/>
                                        <p:tgtEl>
                                          <p:spTgt spid="11"/>
                                        </p:tgtEl>
                                      </p:cBhvr>
                                      <p:from x="62000" y="62000"/>
                                      <p:to x="100000" y="100000"/>
                                    </p:animScale>
                                  </p:childTnLst>
                                </p:cTn>
                              </p:par>
                              <p:par>
                                <p:cTn id="40" presetID="23" presetClass="entr" presetSubtype="16" fill="hold" grpId="0" nodeType="withEffect">
                                  <p:stCondLst>
                                    <p:cond delay="1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350"/>
                                        <p:tgtEl>
                                          <p:spTgt spid="12"/>
                                        </p:tgtEl>
                                      </p:cBhvr>
                                    </p:animEffect>
                                    <p:animScale>
                                      <p:cBhvr>
                                        <p:cTn id="43" dur="350" fill="hold"/>
                                        <p:tgtEl>
                                          <p:spTgt spid="12"/>
                                        </p:tgtEl>
                                      </p:cBhvr>
                                      <p:from x="62000" y="62000"/>
                                      <p:to x="100000" y="100000"/>
                                    </p:animScale>
                                  </p:childTnLst>
                                </p:cTn>
                              </p:par>
                              <p:par>
                                <p:cTn id="44" presetID="10" presetClass="entr" presetSubtype="0" fill="hold" grpId="0" nodeType="withEffect">
                                  <p:stCondLst>
                                    <p:cond delay="25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00"/>
                                        <p:tgtEl>
                                          <p:spTgt spid="13"/>
                                        </p:tgtEl>
                                      </p:cBhvr>
                                    </p:animEffect>
                                  </p:childTnLst>
                                </p:cTn>
                              </p:par>
                              <p:par>
                                <p:cTn id="47" presetID="10" presetClass="entr" presetSubtype="0" fill="hold" grpId="0" nodeType="withEffect">
                                  <p:stCondLst>
                                    <p:cond delay="38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childTnLst>
                                </p:cTn>
                              </p:par>
                            </p:childTnLst>
                          </p:cTn>
                        </p:par>
                      </p:childTnLst>
                    </p:cTn>
                  </p:par>
                  <p:par>
                    <p:cTn id="70" fill="hold">
                      <p:stCondLst>
                        <p:cond delay="indefinite"/>
                      </p:stCondLst>
                      <p:childTnLst>
                        <p:par>
                          <p:cTn id="71" fill="hold">
                            <p:stCondLst>
                              <p:cond delay="0"/>
                            </p:stCondLst>
                            <p:childTnLst>
                              <p:par>
                                <p:cTn id="52" presetID="42" presetClass="entr" presetSubtype="4"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additive="base">
                                        <p:cTn id="55" dur="500" fill="hold"/>
                                        <p:tgtEl>
                                          <p:spTgt spid="15"/>
                                        </p:tgtEl>
                                        <p:attrNameLst>
                                          <p:attrName>ppt_y</p:attrName>
                                        </p:attrNameLst>
                                      </p:cBhvr>
                                      <p:tavLst>
                                        <p:tav tm="0">
                                          <p:val>
                                            <p:strVal val="#ppt_y+0.045"/>
                                          </p:val>
                                        </p:tav>
                                        <p:tav tm="100000">
                                          <p:val>
                                            <p:strVal val="#ppt_y"/>
                                          </p:val>
                                        </p:tav>
                                      </p:tavLst>
                                    </p:anim>
                                  </p:childTnLst>
                                </p:cTn>
                              </p:par>
                              <p:par>
                                <p:cTn id="56" presetID="23" presetClass="entr" presetSubtype="16" fill="hold" grpId="0" nodeType="withEffect">
                                  <p:stCondLst>
                                    <p:cond delay="15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50"/>
                                        <p:tgtEl>
                                          <p:spTgt spid="16"/>
                                        </p:tgtEl>
                                      </p:cBhvr>
                                    </p:animEffect>
                                    <p:animScale>
                                      <p:cBhvr>
                                        <p:cTn id="59" dur="350" fill="hold"/>
                                        <p:tgtEl>
                                          <p:spTgt spid="16"/>
                                        </p:tgtEl>
                                      </p:cBhvr>
                                      <p:from x="62000" y="62000"/>
                                      <p:to x="100000" y="100000"/>
                                    </p:animScale>
                                  </p:childTnLst>
                                </p:cTn>
                              </p:par>
                              <p:par>
                                <p:cTn id="60" presetID="23" presetClass="entr" presetSubtype="16" fill="hold" grpId="0" nodeType="withEffect">
                                  <p:stCondLst>
                                    <p:cond delay="15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350"/>
                                        <p:tgtEl>
                                          <p:spTgt spid="17"/>
                                        </p:tgtEl>
                                      </p:cBhvr>
                                    </p:animEffect>
                                    <p:animScale>
                                      <p:cBhvr>
                                        <p:cTn id="63" dur="350" fill="hold"/>
                                        <p:tgtEl>
                                          <p:spTgt spid="17"/>
                                        </p:tgtEl>
                                      </p:cBhvr>
                                      <p:from x="62000" y="62000"/>
                                      <p:to x="100000" y="100000"/>
                                    </p:animScale>
                                  </p:childTnLst>
                                </p:cTn>
                              </p:par>
                              <p:par>
                                <p:cTn id="64" presetID="10" presetClass="entr" presetSubtype="0" fill="hold" grpId="0" nodeType="withEffect">
                                  <p:stCondLst>
                                    <p:cond delay="25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7" presetID="10" presetClass="entr" presetSubtype="0" fill="hold" grpId="0" nodeType="withEffect">
                                  <p:stCondLst>
                                    <p:cond delay="38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450"/>
                                        <p:tgtEl>
                                          <p:spTgt spid="19"/>
                                        </p:tgtEl>
                                      </p:cBhvr>
                                    </p:animEffect>
                                  </p:childTnLst>
                                </p:cTn>
                              </p:par>
                            </p:childTnLst>
                          </p:cTn>
                        </p:par>
                      </p:childTnLst>
                    </p:cTn>
                  </p:par>
                  <p:par>
                    <p:cTn id="75" fill="hold">
                      <p:stCondLst>
                        <p:cond delay="indefinite"/>
                      </p:stCondLst>
                      <p:childTnLst>
                        <p:par>
                          <p:cTn id="76"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right)">
                                      <p:cBhvr>
                                        <p:cTn id="74" dur="7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FUTURE ROADMAP</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From one screen to </a:t>
            </a:r>
            <a:pPr algn="l" indent="0" marL="0">
              <a:buNone/>
            </a:pPr>
            <a:r>
              <a:rPr lang="en-US" sz="3300" b="1" dirty="0">
                <a:solidFill>
                  <a:srgbClr val="FF7A18"/>
                </a:solidFill>
                <a:latin typeface="Arial" pitchFamily="34" charset="0"/>
                <a:ea typeface="Arial" pitchFamily="34" charset="-122"/>
                <a:cs typeface="Arial" pitchFamily="34" charset="-120"/>
              </a:rPr>
              <a:t>whole apps.</a:t>
            </a:r>
            <a:endParaRPr lang="en-US" sz="3300" dirty="0"/>
          </a:p>
        </p:txBody>
      </p:sp>
      <p:sp>
        <p:nvSpPr>
          <p:cNvPr id="5" name="c0"/>
          <p:cNvSpPr/>
          <p:nvPr/>
        </p:nvSpPr>
        <p:spPr>
          <a:xfrm>
            <a:off x="65836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6" name="ch0"/>
          <p:cNvSpPr/>
          <p:nvPr/>
        </p:nvSpPr>
        <p:spPr>
          <a:xfrm>
            <a:off x="932688" y="2304288"/>
            <a:ext cx="987552" cy="347472"/>
          </a:xfrm>
          <a:prstGeom prst="roundRect">
            <a:avLst>
              <a:gd name="adj" fmla="val 131579"/>
            </a:avLst>
          </a:prstGeom>
          <a:solidFill>
            <a:srgbClr val="FF7A18">
              <a:alpha val="18000"/>
            </a:srgbClr>
          </a:solidFill>
          <a:ln w="13970">
            <a:solidFill>
              <a:srgbClr val="FF7A18"/>
            </a:solidFill>
            <a:prstDash val="solid"/>
          </a:ln>
        </p:spPr>
      </p:sp>
      <p:sp>
        <p:nvSpPr>
          <p:cNvPr id="7" name="cht0"/>
          <p:cNvSpPr txBox="1"/>
          <p:nvPr/>
        </p:nvSpPr>
        <p:spPr>
          <a:xfrm>
            <a:off x="932688" y="2304288"/>
            <a:ext cx="987552" cy="347472"/>
          </a:xfrm>
          <a:prstGeom prst="rect">
            <a:avLst/>
          </a:prstGeom>
          <a:noFill/>
          <a:ln/>
        </p:spPr>
        <p:txBody>
          <a:bodyPr wrap="square" lIns="0" tIns="0" rIns="0" bIns="0" rtlCol="0" anchor="ctr"/>
          <a:lstStyle/>
          <a:p>
            <a:pPr algn="ctr" indent="0" marL="0">
              <a:buNone/>
            </a:pPr>
            <a:r>
              <a:rPr lang="en-US" sz="1100" b="1" spc="160" kern="0" dirty="0">
                <a:solidFill>
                  <a:srgbClr val="FF7A18"/>
                </a:solidFill>
                <a:latin typeface="Arial" pitchFamily="34" charset="0"/>
                <a:ea typeface="Arial" pitchFamily="34" charset="-122"/>
                <a:cs typeface="Arial" pitchFamily="34" charset="-120"/>
              </a:rPr>
              <a:t>NOW</a:t>
            </a:r>
            <a:endParaRPr lang="en-US" sz="1100" dirty="0"/>
          </a:p>
        </p:txBody>
      </p:sp>
      <p:pic>
        <p:nvPicPr>
          <p:cNvPr id="8" name="ci0" descr="/home/claude/build/img/ic_maximize2_em.png">    </p:cNvPr>
          <p:cNvPicPr>
            <a:picLocks noChangeAspect="1"/>
          </p:cNvPicPr>
          <p:nvPr/>
        </p:nvPicPr>
        <p:blipFill>
          <a:blip r:embed="rId2"/>
          <a:stretch>
            <a:fillRect/>
          </a:stretch>
        </p:blipFill>
        <p:spPr>
          <a:xfrm>
            <a:off x="3310128" y="2286000"/>
            <a:ext cx="402336" cy="402336"/>
          </a:xfrm>
          <a:prstGeom prst="rect">
            <a:avLst/>
          </a:prstGeom>
        </p:spPr>
      </p:pic>
      <p:sp>
        <p:nvSpPr>
          <p:cNvPr id="9" name="ct0"/>
          <p:cNvSpPr txBox="1"/>
          <p:nvPr/>
        </p:nvSpPr>
        <p:spPr>
          <a:xfrm>
            <a:off x="932688" y="2907792"/>
            <a:ext cx="2834640" cy="457200"/>
          </a:xfrm>
          <a:prstGeom prst="rect">
            <a:avLst/>
          </a:prstGeom>
          <a:noFill/>
          <a:ln/>
        </p:spPr>
        <p:txBody>
          <a:bodyPr wrap="square" lIns="0" tIns="0" rIns="0" bIns="0" rtlCol="0" anchor="t"/>
          <a:lstStyle/>
          <a:p>
            <a:pPr indent="0" marL="0">
              <a:lnSpc>
                <a:spcPct val="110000"/>
              </a:lnSpc>
              <a:buNone/>
            </a:pPr>
            <a:r>
              <a:rPr lang="en-US" sz="1450" b="1" dirty="0">
                <a:solidFill>
                  <a:srgbClr val="E8ECF5"/>
                </a:solidFill>
                <a:latin typeface="Arial" pitchFamily="34" charset="0"/>
                <a:ea typeface="Arial" pitchFamily="34" charset="-122"/>
                <a:cs typeface="Arial" pitchFamily="34" charset="-120"/>
              </a:rPr>
              <a:t>Single React screens</a:t>
            </a:r>
            <a:endParaRPr lang="en-US" sz="1450" dirty="0"/>
          </a:p>
        </p:txBody>
      </p:sp>
      <p:sp>
        <p:nvSpPr>
          <p:cNvPr id="10" name="cb0"/>
          <p:cNvSpPr txBox="1"/>
          <p:nvPr/>
        </p:nvSpPr>
        <p:spPr>
          <a:xfrm>
            <a:off x="932688" y="3419856"/>
            <a:ext cx="2834640" cy="160020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Sweep, forge, land. OpenCV rectification, MediaPipe detection, constrained JSON and the Office Kit transport all ship today.</a:t>
            </a:r>
            <a:endParaRPr lang="en-US" sz="1150" dirty="0"/>
          </a:p>
        </p:txBody>
      </p:sp>
      <p:sp>
        <p:nvSpPr>
          <p:cNvPr id="11" name="ar0"/>
          <p:cNvSpPr txBox="1"/>
          <p:nvPr/>
        </p:nvSpPr>
        <p:spPr>
          <a:xfrm>
            <a:off x="4041648" y="3401568"/>
            <a:ext cx="365760" cy="457200"/>
          </a:xfrm>
          <a:prstGeom prst="rect">
            <a:avLst/>
          </a:prstGeom>
          <a:noFill/>
          <a:ln/>
        </p:spPr>
        <p:txBody>
          <a:bodyPr wrap="square" lIns="0" tIns="0" rIns="0" bIns="0" rtlCol="0" anchor="ctr"/>
          <a:lstStyle/>
          <a:p>
            <a:pPr algn="ctr" indent="0" marL="0">
              <a:buNone/>
            </a:pPr>
            <a:r>
              <a:rPr lang="en-US" sz="2200" b="1" dirty="0">
                <a:solidFill>
                  <a:srgbClr val="FF7A18"/>
                </a:solidFill>
                <a:latin typeface="Arial" pitchFamily="34" charset="0"/>
                <a:ea typeface="Arial" pitchFamily="34" charset="-122"/>
                <a:cs typeface="Arial" pitchFamily="34" charset="-120"/>
              </a:rPr>
              <a:t>›</a:t>
            </a:r>
            <a:endParaRPr lang="en-US" sz="2200" dirty="0"/>
          </a:p>
        </p:txBody>
      </p:sp>
      <p:sp>
        <p:nvSpPr>
          <p:cNvPr id="12" name="c1"/>
          <p:cNvSpPr/>
          <p:nvPr/>
        </p:nvSpPr>
        <p:spPr>
          <a:xfrm>
            <a:off x="440740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13" name="ch1"/>
          <p:cNvSpPr/>
          <p:nvPr/>
        </p:nvSpPr>
        <p:spPr>
          <a:xfrm>
            <a:off x="4681728" y="2304288"/>
            <a:ext cx="987552" cy="347472"/>
          </a:xfrm>
          <a:prstGeom prst="roundRect">
            <a:avLst>
              <a:gd name="adj" fmla="val 131579"/>
            </a:avLst>
          </a:prstGeom>
          <a:solidFill>
            <a:srgbClr val="FFB347">
              <a:alpha val="18000"/>
            </a:srgbClr>
          </a:solidFill>
          <a:ln w="13970">
            <a:solidFill>
              <a:srgbClr val="FFB347"/>
            </a:solidFill>
            <a:prstDash val="solid"/>
          </a:ln>
        </p:spPr>
      </p:sp>
      <p:sp>
        <p:nvSpPr>
          <p:cNvPr id="14" name="cht1"/>
          <p:cNvSpPr txBox="1"/>
          <p:nvPr/>
        </p:nvSpPr>
        <p:spPr>
          <a:xfrm>
            <a:off x="4681728" y="2304288"/>
            <a:ext cx="987552" cy="347472"/>
          </a:xfrm>
          <a:prstGeom prst="rect">
            <a:avLst/>
          </a:prstGeom>
          <a:noFill/>
          <a:ln/>
        </p:spPr>
        <p:txBody>
          <a:bodyPr wrap="square" lIns="0" tIns="0" rIns="0" bIns="0" rtlCol="0" anchor="ctr"/>
          <a:lstStyle/>
          <a:p>
            <a:pPr algn="ctr" indent="0" marL="0">
              <a:buNone/>
            </a:pPr>
            <a:r>
              <a:rPr lang="en-US" sz="1100" b="1" spc="160" kern="0" dirty="0">
                <a:solidFill>
                  <a:srgbClr val="FFB347"/>
                </a:solidFill>
                <a:latin typeface="Arial" pitchFamily="34" charset="0"/>
                <a:ea typeface="Arial" pitchFamily="34" charset="-122"/>
                <a:cs typeface="Arial" pitchFamily="34" charset="-120"/>
              </a:rPr>
              <a:t>NEXT</a:t>
            </a:r>
            <a:endParaRPr lang="en-US" sz="1100" dirty="0"/>
          </a:p>
        </p:txBody>
      </p:sp>
      <p:pic>
        <p:nvPicPr>
          <p:cNvPr id="15" name="ci1" descr="/home/claude/build/img/ic_mic_em.png">    </p:cNvPr>
          <p:cNvPicPr>
            <a:picLocks noChangeAspect="1"/>
          </p:cNvPicPr>
          <p:nvPr/>
        </p:nvPicPr>
        <p:blipFill>
          <a:blip r:embed="rId3"/>
          <a:stretch>
            <a:fillRect/>
          </a:stretch>
        </p:blipFill>
        <p:spPr>
          <a:xfrm>
            <a:off x="7059168" y="2286000"/>
            <a:ext cx="402336" cy="402336"/>
          </a:xfrm>
          <a:prstGeom prst="rect">
            <a:avLst/>
          </a:prstGeom>
        </p:spPr>
      </p:pic>
      <p:sp>
        <p:nvSpPr>
          <p:cNvPr id="16" name="ct1"/>
          <p:cNvSpPr txBox="1"/>
          <p:nvPr/>
        </p:nvSpPr>
        <p:spPr>
          <a:xfrm>
            <a:off x="4681728" y="2907792"/>
            <a:ext cx="2834640" cy="457200"/>
          </a:xfrm>
          <a:prstGeom prst="rect">
            <a:avLst/>
          </a:prstGeom>
          <a:noFill/>
          <a:ln/>
        </p:spPr>
        <p:txBody>
          <a:bodyPr wrap="square" lIns="0" tIns="0" rIns="0" bIns="0" rtlCol="0" anchor="t"/>
          <a:lstStyle/>
          <a:p>
            <a:pPr indent="0" marL="0">
              <a:lnSpc>
                <a:spcPct val="110000"/>
              </a:lnSpc>
              <a:buNone/>
            </a:pPr>
            <a:r>
              <a:rPr lang="en-US" sz="1450" b="1" dirty="0">
                <a:solidFill>
                  <a:srgbClr val="E8ECF5"/>
                </a:solidFill>
                <a:latin typeface="Arial" pitchFamily="34" charset="0"/>
                <a:ea typeface="Arial" pitchFamily="34" charset="-122"/>
                <a:cs typeface="Arial" pitchFamily="34" charset="-120"/>
              </a:rPr>
              <a:t>Multi-screen flows · voice edits</a:t>
            </a:r>
            <a:endParaRPr lang="en-US" sz="1450" dirty="0"/>
          </a:p>
        </p:txBody>
      </p:sp>
      <p:sp>
        <p:nvSpPr>
          <p:cNvPr id="17" name="cb1"/>
          <p:cNvSpPr txBox="1"/>
          <p:nvPr/>
        </p:nvSpPr>
        <p:spPr>
          <a:xfrm>
            <a:off x="4681728" y="3419856"/>
            <a:ext cx="2834640" cy="160020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The Hexagon NPU also handles audio. Say “make that card a list” and the layout updates — still with no network.</a:t>
            </a:r>
            <a:endParaRPr lang="en-US" sz="1150" dirty="0"/>
          </a:p>
        </p:txBody>
      </p:sp>
      <p:sp>
        <p:nvSpPr>
          <p:cNvPr id="18" name="ar1"/>
          <p:cNvSpPr txBox="1"/>
          <p:nvPr/>
        </p:nvSpPr>
        <p:spPr>
          <a:xfrm>
            <a:off x="7790688" y="3401568"/>
            <a:ext cx="365760" cy="457200"/>
          </a:xfrm>
          <a:prstGeom prst="rect">
            <a:avLst/>
          </a:prstGeom>
          <a:noFill/>
          <a:ln/>
        </p:spPr>
        <p:txBody>
          <a:bodyPr wrap="square" lIns="0" tIns="0" rIns="0" bIns="0" rtlCol="0" anchor="ctr"/>
          <a:lstStyle/>
          <a:p>
            <a:pPr algn="ctr" indent="0" marL="0">
              <a:buNone/>
            </a:pPr>
            <a:r>
              <a:rPr lang="en-US" sz="2200" b="1" dirty="0">
                <a:solidFill>
                  <a:srgbClr val="FF7A18"/>
                </a:solidFill>
                <a:latin typeface="Arial" pitchFamily="34" charset="0"/>
                <a:ea typeface="Arial" pitchFamily="34" charset="-122"/>
                <a:cs typeface="Arial" pitchFamily="34" charset="-120"/>
              </a:rPr>
              <a:t>›</a:t>
            </a:r>
            <a:endParaRPr lang="en-US" sz="2200" dirty="0"/>
          </a:p>
        </p:txBody>
      </p:sp>
      <p:sp>
        <p:nvSpPr>
          <p:cNvPr id="19" name="c2"/>
          <p:cNvSpPr/>
          <p:nvPr/>
        </p:nvSpPr>
        <p:spPr>
          <a:xfrm>
            <a:off x="8156448" y="2057400"/>
            <a:ext cx="3383280" cy="3127248"/>
          </a:xfrm>
          <a:prstGeom prst="roundRect">
            <a:avLst>
              <a:gd name="adj" fmla="val 2339"/>
            </a:avLst>
          </a:prstGeom>
          <a:solidFill>
            <a:srgbClr val="121A2E">
              <a:alpha val="86000"/>
            </a:srgbClr>
          </a:solidFill>
          <a:ln w="12700">
            <a:solidFill>
              <a:srgbClr val="26314E"/>
            </a:solidFill>
            <a:prstDash val="solid"/>
          </a:ln>
        </p:spPr>
      </p:sp>
      <p:sp>
        <p:nvSpPr>
          <p:cNvPr id="20" name="ch2"/>
          <p:cNvSpPr/>
          <p:nvPr/>
        </p:nvSpPr>
        <p:spPr>
          <a:xfrm>
            <a:off x="8430768" y="2304288"/>
            <a:ext cx="987552" cy="347472"/>
          </a:xfrm>
          <a:prstGeom prst="roundRect">
            <a:avLst>
              <a:gd name="adj" fmla="val 131579"/>
            </a:avLst>
          </a:prstGeom>
          <a:solidFill>
            <a:srgbClr val="22D3EE">
              <a:alpha val="18000"/>
            </a:srgbClr>
          </a:solidFill>
          <a:ln w="13970">
            <a:solidFill>
              <a:srgbClr val="22D3EE"/>
            </a:solidFill>
            <a:prstDash val="solid"/>
          </a:ln>
        </p:spPr>
      </p:sp>
      <p:sp>
        <p:nvSpPr>
          <p:cNvPr id="21" name="cht2"/>
          <p:cNvSpPr txBox="1"/>
          <p:nvPr/>
        </p:nvSpPr>
        <p:spPr>
          <a:xfrm>
            <a:off x="8430768" y="2304288"/>
            <a:ext cx="987552" cy="347472"/>
          </a:xfrm>
          <a:prstGeom prst="rect">
            <a:avLst/>
          </a:prstGeom>
          <a:noFill/>
          <a:ln/>
        </p:spPr>
        <p:txBody>
          <a:bodyPr wrap="square" lIns="0" tIns="0" rIns="0" bIns="0" rtlCol="0" anchor="ctr"/>
          <a:lstStyle/>
          <a:p>
            <a:pPr algn="ctr" indent="0" marL="0">
              <a:buNone/>
            </a:pPr>
            <a:r>
              <a:rPr lang="en-US" sz="1100" b="1" spc="160" kern="0" dirty="0">
                <a:solidFill>
                  <a:srgbClr val="22D3EE"/>
                </a:solidFill>
                <a:latin typeface="Arial" pitchFamily="34" charset="0"/>
                <a:ea typeface="Arial" pitchFamily="34" charset="-122"/>
                <a:cs typeface="Arial" pitchFamily="34" charset="-120"/>
              </a:rPr>
              <a:t>LATER</a:t>
            </a:r>
            <a:endParaRPr lang="en-US" sz="1100" dirty="0"/>
          </a:p>
        </p:txBody>
      </p:sp>
      <p:pic>
        <p:nvPicPr>
          <p:cNvPr id="22" name="ci2" descr="/home/claude/build/img/ic_package_si.png">    </p:cNvPr>
          <p:cNvPicPr>
            <a:picLocks noChangeAspect="1"/>
          </p:cNvPicPr>
          <p:nvPr/>
        </p:nvPicPr>
        <p:blipFill>
          <a:blip r:embed="rId4"/>
          <a:stretch>
            <a:fillRect/>
          </a:stretch>
        </p:blipFill>
        <p:spPr>
          <a:xfrm>
            <a:off x="10808208" y="2286000"/>
            <a:ext cx="402336" cy="402336"/>
          </a:xfrm>
          <a:prstGeom prst="rect">
            <a:avLst/>
          </a:prstGeom>
        </p:spPr>
      </p:pic>
      <p:sp>
        <p:nvSpPr>
          <p:cNvPr id="23" name="ct2"/>
          <p:cNvSpPr txBox="1"/>
          <p:nvPr/>
        </p:nvSpPr>
        <p:spPr>
          <a:xfrm>
            <a:off x="8430768" y="2907792"/>
            <a:ext cx="2834640" cy="457200"/>
          </a:xfrm>
          <a:prstGeom prst="rect">
            <a:avLst/>
          </a:prstGeom>
          <a:noFill/>
          <a:ln/>
        </p:spPr>
        <p:txBody>
          <a:bodyPr wrap="square" lIns="0" tIns="0" rIns="0" bIns="0" rtlCol="0" anchor="t"/>
          <a:lstStyle/>
          <a:p>
            <a:pPr indent="0" marL="0">
              <a:lnSpc>
                <a:spcPct val="110000"/>
              </a:lnSpc>
              <a:buNone/>
            </a:pPr>
            <a:r>
              <a:rPr lang="en-US" sz="1450" b="1" dirty="0">
                <a:solidFill>
                  <a:srgbClr val="E8ECF5"/>
                </a:solidFill>
                <a:latin typeface="Arial" pitchFamily="34" charset="0"/>
                <a:ea typeface="Arial" pitchFamily="34" charset="-122"/>
                <a:cs typeface="Arial" pitchFamily="34" charset="-120"/>
              </a:rPr>
              <a:t>Flutter · SwiftUI · Vue</a:t>
            </a:r>
            <a:endParaRPr lang="en-US" sz="1450" dirty="0"/>
          </a:p>
        </p:txBody>
      </p:sp>
      <p:sp>
        <p:nvSpPr>
          <p:cNvPr id="24" name="cb2"/>
          <p:cNvSpPr txBox="1"/>
          <p:nvPr/>
        </p:nvSpPr>
        <p:spPr>
          <a:xfrm>
            <a:off x="8430768" y="3419856"/>
            <a:ext cx="2834640" cy="1600200"/>
          </a:xfrm>
          <a:prstGeom prst="rect">
            <a:avLst/>
          </a:prstGeom>
          <a:noFill/>
          <a:ln/>
        </p:spPr>
        <p:txBody>
          <a:bodyPr wrap="square" lIns="0" tIns="0" rIns="0" bIns="0" rtlCol="0" anchor="t"/>
          <a:lstStyle/>
          <a:p>
            <a:pPr indent="0" marL="0">
              <a:lnSpc>
                <a:spcPct val="118000"/>
              </a:lnSpc>
              <a:buNone/>
            </a:pPr>
            <a:r>
              <a:rPr lang="en-US" sz="1150" dirty="0">
                <a:solidFill>
                  <a:srgbClr val="8A94AB"/>
                </a:solidFill>
                <a:latin typeface="Arial" pitchFamily="34" charset="0"/>
                <a:ea typeface="Arial" pitchFamily="34" charset="-122"/>
                <a:cs typeface="Arial" pitchFamily="34" charset="-120"/>
              </a:rPr>
              <a:t>The layout schema is renderer-agnostic, so each new target is a template pack, not a new model.</a:t>
            </a:r>
            <a:endParaRPr lang="en-US" sz="1150" dirty="0"/>
          </a:p>
        </p:txBody>
      </p:sp>
      <p:sp>
        <p:nvSpPr>
          <p:cNvPr id="25" name="note"/>
          <p:cNvSpPr txBox="1"/>
          <p:nvPr/>
        </p:nvSpPr>
        <p:spPr>
          <a:xfrm>
            <a:off x="685800" y="5669280"/>
            <a:ext cx="10881360" cy="347472"/>
          </a:xfrm>
          <a:prstGeom prst="rect">
            <a:avLst/>
          </a:prstGeom>
          <a:noFill/>
          <a:ln/>
        </p:spPr>
        <p:txBody>
          <a:bodyPr wrap="square" lIns="0" tIns="0" rIns="0" bIns="0" rtlCol="0" anchor="ctr"/>
          <a:lstStyle/>
          <a:p>
            <a:pPr indent="0" marL="0">
              <a:buNone/>
            </a:pPr>
            <a:r>
              <a:rPr lang="en-US" sz="1250" i="1" dirty="0">
                <a:solidFill>
                  <a:srgbClr val="FF7A18"/>
                </a:solidFill>
                <a:latin typeface="Arial" pitchFamily="34" charset="0"/>
                <a:ea typeface="Arial" pitchFamily="34" charset="-122"/>
                <a:cs typeface="Arial" pitchFamily="34" charset="-120"/>
              </a:rPr>
              <a:t>The renderer is deterministic, so every new framework is a template pack — never a retrained model.</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12" presetID="4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additive="base">
                                        <p:cTn id="15" dur="500" fill="hold"/>
                                        <p:tgtEl>
                                          <p:spTgt spid="5"/>
                                        </p:tgtEl>
                                        <p:attrNameLst>
                                          <p:attrName>ppt_y</p:attrName>
                                        </p:attrNameLst>
                                      </p:cBhvr>
                                      <p:tavLst>
                                        <p:tav tm="0">
                                          <p:val>
                                            <p:strVal val="#ppt_y+0.045"/>
                                          </p:val>
                                        </p:tav>
                                        <p:tav tm="100000">
                                          <p:val>
                                            <p:strVal val="#ppt_y"/>
                                          </p:val>
                                        </p:tav>
                                      </p:tavLst>
                                    </p:anim>
                                  </p:childTnLst>
                                </p:cTn>
                              </p:par>
                              <p:par>
                                <p:cTn id="16" presetID="10" presetClass="entr" presetSubtype="0" fill="hold" grpId="0" nodeType="withEffect">
                                  <p:stCondLst>
                                    <p:cond delay="1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50"/>
                                        <p:tgtEl>
                                          <p:spTgt spid="6"/>
                                        </p:tgtEl>
                                      </p:cBhvr>
                                    </p:animEffect>
                                  </p:childTnLst>
                                </p:cTn>
                              </p:par>
                              <p:par>
                                <p:cTn id="19" presetID="10" presetClass="entr" presetSubtype="0" fill="hold" grpId="0" nodeType="withEffect">
                                  <p:stCondLst>
                                    <p:cond delay="1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50"/>
                                        <p:tgtEl>
                                          <p:spTgt spid="7"/>
                                        </p:tgtEl>
                                      </p:cBhvr>
                                    </p:animEffect>
                                  </p:childTnLst>
                                </p:cTn>
                              </p:par>
                              <p:par>
                                <p:cTn id="22" presetID="23" presetClass="entr" presetSubtype="16"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Scale>
                                      <p:cBhvr>
                                        <p:cTn id="25" dur="350" fill="hold"/>
                                        <p:tgtEl>
                                          <p:spTgt spid="8"/>
                                        </p:tgtEl>
                                      </p:cBhvr>
                                      <p:from x="62000" y="62000"/>
                                      <p:to x="100000" y="100000"/>
                                    </p:animScale>
                                  </p:childTnLst>
                                </p:cTn>
                              </p:par>
                              <p:par>
                                <p:cTn id="26" presetID="10" presetClass="entr" presetSubtype="0" fill="hold" grpId="0" nodeType="withEffect">
                                  <p:stCondLst>
                                    <p:cond delay="2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childTnLst>
                          </p:cTn>
                        </p:par>
                      </p:childTnLst>
                    </p:cTn>
                  </p:par>
                  <p:par>
                    <p:cTn id="57" fill="hold">
                      <p:stCondLst>
                        <p:cond delay="indefinite"/>
                      </p:stCondLst>
                      <p:childTnLst>
                        <p:par>
                          <p:cTn id="58"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00"/>
                                        <p:tgtEl>
                                          <p:spTgt spid="11"/>
                                        </p:tgtEl>
                                      </p:cBhvr>
                                    </p:animEffect>
                                  </p:childTnLst>
                                </p:cTn>
                              </p:par>
                              <p:par>
                                <p:cTn id="37" presetID="4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additive="base">
                                        <p:cTn id="40" dur="500" fill="hold"/>
                                        <p:tgtEl>
                                          <p:spTgt spid="12"/>
                                        </p:tgtEl>
                                        <p:attrNameLst>
                                          <p:attrName>ppt_y</p:attrName>
                                        </p:attrNameLst>
                                      </p:cBhvr>
                                      <p:tavLst>
                                        <p:tav tm="0">
                                          <p:val>
                                            <p:strVal val="#ppt_y+0.045"/>
                                          </p:val>
                                        </p:tav>
                                        <p:tav tm="100000">
                                          <p:val>
                                            <p:strVal val="#ppt_y"/>
                                          </p:val>
                                        </p:tav>
                                      </p:tavLst>
                                    </p:anim>
                                  </p:childTnLst>
                                </p:cTn>
                              </p:par>
                              <p:par>
                                <p:cTn id="41" presetID="10" presetClass="entr" presetSubtype="0" fill="hold" grpId="0" nodeType="withEffect">
                                  <p:stCondLst>
                                    <p:cond delay="1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350"/>
                                        <p:tgtEl>
                                          <p:spTgt spid="13"/>
                                        </p:tgtEl>
                                      </p:cBhvr>
                                    </p:animEffect>
                                  </p:childTnLst>
                                </p:cTn>
                              </p:par>
                              <p:par>
                                <p:cTn id="44" presetID="10" presetClass="entr" presetSubtype="0" fill="hold" grpId="0" nodeType="withEffect">
                                  <p:stCondLst>
                                    <p:cond delay="1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50"/>
                                        <p:tgtEl>
                                          <p:spTgt spid="14"/>
                                        </p:tgtEl>
                                      </p:cBhvr>
                                    </p:animEffect>
                                  </p:childTnLst>
                                </p:cTn>
                              </p:par>
                              <p:par>
                                <p:cTn id="47" presetID="23" presetClass="entr" presetSubtype="16" fill="hold" grpId="0" nodeType="withEffect">
                                  <p:stCondLst>
                                    <p:cond delay="2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350"/>
                                        <p:tgtEl>
                                          <p:spTgt spid="15"/>
                                        </p:tgtEl>
                                      </p:cBhvr>
                                    </p:animEffect>
                                    <p:animScale>
                                      <p:cBhvr>
                                        <p:cTn id="50" dur="350" fill="hold"/>
                                        <p:tgtEl>
                                          <p:spTgt spid="15"/>
                                        </p:tgtEl>
                                      </p:cBhvr>
                                      <p:from x="62000" y="62000"/>
                                      <p:to x="100000" y="100000"/>
                                    </p:animScale>
                                  </p:childTnLst>
                                </p:cTn>
                              </p:par>
                              <p:par>
                                <p:cTn id="51" presetID="10" presetClass="entr" presetSubtype="0" fill="hold" grpId="0" nodeType="withEffect">
                                  <p:stCondLst>
                                    <p:cond delay="28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00"/>
                                        <p:tgtEl>
                                          <p:spTgt spid="16"/>
                                        </p:tgtEl>
                                      </p:cBhvr>
                                    </p:animEffect>
                                  </p:childTnLst>
                                </p:cTn>
                              </p:par>
                              <p:par>
                                <p:cTn id="54" presetID="10" presetClass="entr" presetSubtype="0" fill="hold" grpId="0" nodeType="withEffect">
                                  <p:stCondLst>
                                    <p:cond delay="40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450"/>
                                        <p:tgtEl>
                                          <p:spTgt spid="17"/>
                                        </p:tgtEl>
                                      </p:cBhvr>
                                    </p:animEffect>
                                  </p:childTnLst>
                                </p:cTn>
                              </p:par>
                            </p:childTnLst>
                          </p:cTn>
                        </p:par>
                      </p:childTnLst>
                    </p:cTn>
                  </p:par>
                  <p:par>
                    <p:cTn id="82" fill="hold">
                      <p:stCondLst>
                        <p:cond delay="indefinite"/>
                      </p:stCondLst>
                      <p:childTnLst>
                        <p:par>
                          <p:cTn id="83"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300"/>
                                        <p:tgtEl>
                                          <p:spTgt spid="18"/>
                                        </p:tgtEl>
                                      </p:cBhvr>
                                    </p:animEffect>
                                  </p:childTnLst>
                                </p:cTn>
                              </p:par>
                              <p:par>
                                <p:cTn id="62" presetID="42" presetClass="entr" presetSubtype="4"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00"/>
                                        <p:tgtEl>
                                          <p:spTgt spid="19"/>
                                        </p:tgtEl>
                                      </p:cBhvr>
                                    </p:animEffect>
                                    <p:anim calcmode="lin" valueType="num">
                                      <p:cBhvr additive="base">
                                        <p:cTn id="65" dur="500" fill="hold"/>
                                        <p:tgtEl>
                                          <p:spTgt spid="19"/>
                                        </p:tgtEl>
                                        <p:attrNameLst>
                                          <p:attrName>ppt_y</p:attrName>
                                        </p:attrNameLst>
                                      </p:cBhvr>
                                      <p:tavLst>
                                        <p:tav tm="0">
                                          <p:val>
                                            <p:strVal val="#ppt_y+0.045"/>
                                          </p:val>
                                        </p:tav>
                                        <p:tav tm="100000">
                                          <p:val>
                                            <p:strVal val="#ppt_y"/>
                                          </p:val>
                                        </p:tav>
                                      </p:tavLst>
                                    </p:anim>
                                  </p:childTnLst>
                                </p:cTn>
                              </p:par>
                              <p:par>
                                <p:cTn id="66" presetID="10" presetClass="entr" presetSubtype="0" fill="hold" grpId="0" nodeType="withEffect">
                                  <p:stCondLst>
                                    <p:cond delay="15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350"/>
                                        <p:tgtEl>
                                          <p:spTgt spid="20"/>
                                        </p:tgtEl>
                                      </p:cBhvr>
                                    </p:animEffect>
                                  </p:childTnLst>
                                </p:cTn>
                              </p:par>
                              <p:par>
                                <p:cTn id="69" presetID="10" presetClass="entr" presetSubtype="0" fill="hold" grpId="0" nodeType="withEffect">
                                  <p:stCondLst>
                                    <p:cond delay="15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350"/>
                                        <p:tgtEl>
                                          <p:spTgt spid="21"/>
                                        </p:tgtEl>
                                      </p:cBhvr>
                                    </p:animEffect>
                                  </p:childTnLst>
                                </p:cTn>
                              </p:par>
                              <p:par>
                                <p:cTn id="72" presetID="23" presetClass="entr" presetSubtype="16" fill="hold" grpId="0" nodeType="withEffect">
                                  <p:stCondLst>
                                    <p:cond delay="20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350"/>
                                        <p:tgtEl>
                                          <p:spTgt spid="22"/>
                                        </p:tgtEl>
                                      </p:cBhvr>
                                    </p:animEffect>
                                    <p:animScale>
                                      <p:cBhvr>
                                        <p:cTn id="75" dur="350" fill="hold"/>
                                        <p:tgtEl>
                                          <p:spTgt spid="22"/>
                                        </p:tgtEl>
                                      </p:cBhvr>
                                      <p:from x="62000" y="62000"/>
                                      <p:to x="100000" y="100000"/>
                                    </p:animScale>
                                  </p:childTnLst>
                                </p:cTn>
                              </p:par>
                              <p:par>
                                <p:cTn id="76" presetID="10" presetClass="entr" presetSubtype="0" fill="hold" grpId="0" nodeType="withEffect">
                                  <p:stCondLst>
                                    <p:cond delay="28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400"/>
                                        <p:tgtEl>
                                          <p:spTgt spid="23"/>
                                        </p:tgtEl>
                                      </p:cBhvr>
                                    </p:animEffect>
                                  </p:childTnLst>
                                </p:cTn>
                              </p:par>
                              <p:par>
                                <p:cTn id="79" presetID="10" presetClass="entr" presetSubtype="0" fill="hold" grpId="0" nodeType="withEffect">
                                  <p:stCondLst>
                                    <p:cond delay="40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450"/>
                                        <p:tgtEl>
                                          <p:spTgt spid="24"/>
                                        </p:tgtEl>
                                      </p:cBhvr>
                                    </p:animEffect>
                                  </p:childTnLst>
                                </p:cTn>
                              </p:par>
                            </p:childTnLst>
                          </p:cTn>
                        </p:par>
                      </p:childTnLst>
                    </p:cTn>
                  </p:par>
                  <p:par>
                    <p:cTn id="87" fill="hold">
                      <p:stCondLst>
                        <p:cond delay="indefinite"/>
                      </p:stCondLst>
                      <p:childTnLst>
                        <p:par>
                          <p:cTn id="88"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right)">
                                      <p:cBhvr>
                                        <p:cTn id="86"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build/img/bg_dark.jpg">    </p:cNvPr>
          <p:cNvPicPr>
            <a:picLocks noChangeAspect="1"/>
          </p:cNvPicPr>
          <p:nvPr/>
        </p:nvPicPr>
        <p:blipFill>
          <a:blip r:embed="rId1"/>
          <a:stretch>
            <a:fillRect/>
          </a:stretch>
        </p:blipFill>
        <p:spPr>
          <a:xfrm>
            <a:off x="0" y="0"/>
            <a:ext cx="12191695" cy="6858000"/>
          </a:xfrm>
          <a:prstGeom prst="rect">
            <a:avLst/>
          </a:prstGeom>
        </p:spPr>
      </p:pic>
      <p:sp>
        <p:nvSpPr>
          <p:cNvPr id="3" name="eb"/>
          <p:cNvSpPr txBox="1"/>
          <p:nvPr/>
        </p:nvSpPr>
        <p:spPr>
          <a:xfrm>
            <a:off x="685800" y="457200"/>
            <a:ext cx="10058400" cy="274320"/>
          </a:xfrm>
          <a:prstGeom prst="rect">
            <a:avLst/>
          </a:prstGeom>
          <a:noFill/>
          <a:ln/>
        </p:spPr>
        <p:txBody>
          <a:bodyPr wrap="square" lIns="0" tIns="0" rIns="0" bIns="0" rtlCol="0" anchor="ctr"/>
          <a:lstStyle/>
          <a:p>
            <a:pPr indent="0" marL="0">
              <a:buNone/>
            </a:pPr>
            <a:r>
              <a:rPr lang="en-US" sz="1150" b="1" spc="320" kern="0" dirty="0">
                <a:solidFill>
                  <a:srgbClr val="FF7A18"/>
                </a:solidFill>
                <a:latin typeface="Arial" pitchFamily="34" charset="0"/>
                <a:ea typeface="Arial" pitchFamily="34" charset="-122"/>
                <a:cs typeface="Arial" pitchFamily="34" charset="-120"/>
              </a:rPr>
              <a:t>WHAT THE JUDGES WILL ASK</a:t>
            </a:r>
            <a:endParaRPr lang="en-US" sz="1150" dirty="0"/>
          </a:p>
        </p:txBody>
      </p:sp>
      <p:sp>
        <p:nvSpPr>
          <p:cNvPr id="4" name="ttl"/>
          <p:cNvSpPr txBox="1"/>
          <p:nvPr/>
        </p:nvSpPr>
        <p:spPr>
          <a:xfrm>
            <a:off x="685800" y="777240"/>
            <a:ext cx="10881360" cy="658368"/>
          </a:xfrm>
          <a:prstGeom prst="rect">
            <a:avLst/>
          </a:prstGeom>
          <a:noFill/>
          <a:ln/>
        </p:spPr>
        <p:txBody>
          <a:bodyPr wrap="square" lIns="0" tIns="0" rIns="0" bIns="0" rtlCol="0" anchor="ctr"/>
          <a:lstStyle/>
          <a:p>
            <a:pPr algn="l" indent="0" marL="0">
              <a:buNone/>
            </a:pPr>
            <a:r>
              <a:rPr lang="en-US" sz="3300" b="1" dirty="0">
                <a:solidFill>
                  <a:srgbClr val="E8ECF5"/>
                </a:solidFill>
                <a:latin typeface="Arial" pitchFamily="34" charset="0"/>
                <a:ea typeface="Arial" pitchFamily="34" charset="-122"/>
                <a:cs typeface="Arial" pitchFamily="34" charset="-120"/>
              </a:rPr>
              <a:t>Three questions, </a:t>
            </a:r>
            <a:pPr algn="l" indent="0" marL="0">
              <a:buNone/>
            </a:pPr>
            <a:r>
              <a:rPr lang="en-US" sz="3300" b="1" dirty="0">
                <a:solidFill>
                  <a:srgbClr val="FF7A18"/>
                </a:solidFill>
                <a:latin typeface="Arial" pitchFamily="34" charset="0"/>
                <a:ea typeface="Arial" pitchFamily="34" charset="-122"/>
                <a:cs typeface="Arial" pitchFamily="34" charset="-120"/>
              </a:rPr>
              <a:t>answered straight.</a:t>
            </a:r>
            <a:endParaRPr lang="en-US" sz="3300" dirty="0"/>
          </a:p>
        </p:txBody>
      </p:sp>
      <p:sp>
        <p:nvSpPr>
          <p:cNvPr id="5" name="q0"/>
          <p:cNvSpPr/>
          <p:nvPr/>
        </p:nvSpPr>
        <p:spPr>
          <a:xfrm>
            <a:off x="685800" y="1920240"/>
            <a:ext cx="10817352" cy="1298448"/>
          </a:xfrm>
          <a:prstGeom prst="roundRect">
            <a:avLst>
              <a:gd name="adj" fmla="val 5634"/>
            </a:avLst>
          </a:prstGeom>
          <a:solidFill>
            <a:srgbClr val="121A2E">
              <a:alpha val="86000"/>
            </a:srgbClr>
          </a:solidFill>
          <a:ln w="12700">
            <a:solidFill>
              <a:srgbClr val="26314E"/>
            </a:solidFill>
            <a:prstDash val="solid"/>
          </a:ln>
        </p:spPr>
      </p:sp>
      <p:pic>
        <p:nvPicPr>
          <p:cNvPr id="6" name="qi0" descr="/home/claude/build/img/ic_helpcircle_em.png">    </p:cNvPr>
          <p:cNvPicPr>
            <a:picLocks noChangeAspect="1"/>
          </p:cNvPicPr>
          <p:nvPr/>
        </p:nvPicPr>
        <p:blipFill>
          <a:blip r:embed="rId2"/>
          <a:stretch>
            <a:fillRect/>
          </a:stretch>
        </p:blipFill>
        <p:spPr>
          <a:xfrm>
            <a:off x="923544" y="2103120"/>
            <a:ext cx="292608" cy="292608"/>
          </a:xfrm>
          <a:prstGeom prst="rect">
            <a:avLst/>
          </a:prstGeom>
        </p:spPr>
      </p:pic>
      <p:sp>
        <p:nvSpPr>
          <p:cNvPr id="7" name="qq0"/>
          <p:cNvSpPr txBox="1"/>
          <p:nvPr/>
        </p:nvSpPr>
        <p:spPr>
          <a:xfrm>
            <a:off x="1344168" y="2057400"/>
            <a:ext cx="9875520" cy="310896"/>
          </a:xfrm>
          <a:prstGeom prst="rect">
            <a:avLst/>
          </a:prstGeom>
          <a:noFill/>
          <a:ln/>
        </p:spPr>
        <p:txBody>
          <a:bodyPr wrap="square" lIns="0" tIns="0" rIns="0" bIns="0" rtlCol="0" anchor="ctr"/>
          <a:lstStyle/>
          <a:p>
            <a:pPr indent="0" marL="0">
              <a:buNone/>
            </a:pPr>
            <a:r>
              <a:rPr lang="en-US" sz="1400" b="1" dirty="0">
                <a:solidFill>
                  <a:srgbClr val="FF7A18"/>
                </a:solidFill>
                <a:latin typeface="Arial" pitchFamily="34" charset="0"/>
                <a:ea typeface="Arial" pitchFamily="34" charset="-122"/>
                <a:cs typeface="Arial" pitchFamily="34" charset="-120"/>
              </a:rPr>
              <a:t>How is this different from v0.dev or Claude Artifacts?</a:t>
            </a:r>
            <a:endParaRPr lang="en-US" sz="1400" dirty="0"/>
          </a:p>
        </p:txBody>
      </p:sp>
      <p:sp>
        <p:nvSpPr>
          <p:cNvPr id="8" name="qa0"/>
          <p:cNvSpPr txBox="1"/>
          <p:nvPr/>
        </p:nvSpPr>
        <p:spPr>
          <a:xfrm>
            <a:off x="1344168" y="2414016"/>
            <a:ext cx="9875520" cy="731520"/>
          </a:xfrm>
          <a:prstGeom prst="rect">
            <a:avLst/>
          </a:prstGeom>
          <a:noFill/>
          <a:ln/>
        </p:spPr>
        <p:txBody>
          <a:bodyPr wrap="square" lIns="0" tIns="0" rIns="0" bIns="0" rtlCol="0" anchor="t"/>
          <a:lstStyle/>
          <a:p>
            <a:pPr indent="0" marL="0">
              <a:lnSpc>
                <a:spcPct val="116000"/>
              </a:lnSpc>
              <a:buNone/>
            </a:pPr>
            <a:r>
              <a:rPr lang="en-US" sz="1150" dirty="0">
                <a:solidFill>
                  <a:srgbClr val="8A94AB"/>
                </a:solidFill>
                <a:latin typeface="Arial" pitchFamily="34" charset="0"/>
                <a:ea typeface="Arial" pitchFamily="34" charset="-122"/>
                <a:cs typeface="Arial" pitchFamily="34" charset="-120"/>
              </a:rPr>
              <a:t>Those run in the cloud and emit generic markup. SnapForge runs entirely on the NPU for absolute privacy, and the deterministic renderer maps output onto the components already in your repo — your &lt;Button&gt;, not a stranger's &lt;div&gt;.</a:t>
            </a:r>
            <a:endParaRPr lang="en-US" sz="1150" dirty="0"/>
          </a:p>
        </p:txBody>
      </p:sp>
      <p:sp>
        <p:nvSpPr>
          <p:cNvPr id="9" name="q1"/>
          <p:cNvSpPr/>
          <p:nvPr/>
        </p:nvSpPr>
        <p:spPr>
          <a:xfrm>
            <a:off x="685800" y="3291840"/>
            <a:ext cx="10817352" cy="1298448"/>
          </a:xfrm>
          <a:prstGeom prst="roundRect">
            <a:avLst>
              <a:gd name="adj" fmla="val 5634"/>
            </a:avLst>
          </a:prstGeom>
          <a:solidFill>
            <a:srgbClr val="121A2E">
              <a:alpha val="86000"/>
            </a:srgbClr>
          </a:solidFill>
          <a:ln w="12700">
            <a:solidFill>
              <a:srgbClr val="26314E"/>
            </a:solidFill>
            <a:prstDash val="solid"/>
          </a:ln>
        </p:spPr>
      </p:sp>
      <p:pic>
        <p:nvPicPr>
          <p:cNvPr id="10" name="qi1" descr="/home/claude/build/img/ic_helpcircle_em.png">    </p:cNvPr>
          <p:cNvPicPr>
            <a:picLocks noChangeAspect="1"/>
          </p:cNvPicPr>
          <p:nvPr/>
        </p:nvPicPr>
        <p:blipFill>
          <a:blip r:embed="rId3"/>
          <a:stretch>
            <a:fillRect/>
          </a:stretch>
        </p:blipFill>
        <p:spPr>
          <a:xfrm>
            <a:off x="923544" y="3474720"/>
            <a:ext cx="292608" cy="292608"/>
          </a:xfrm>
          <a:prstGeom prst="rect">
            <a:avLst/>
          </a:prstGeom>
        </p:spPr>
      </p:pic>
      <p:sp>
        <p:nvSpPr>
          <p:cNvPr id="11" name="qq1"/>
          <p:cNvSpPr txBox="1"/>
          <p:nvPr/>
        </p:nvSpPr>
        <p:spPr>
          <a:xfrm>
            <a:off x="1344168" y="3429000"/>
            <a:ext cx="9875520" cy="310896"/>
          </a:xfrm>
          <a:prstGeom prst="rect">
            <a:avLst/>
          </a:prstGeom>
          <a:noFill/>
          <a:ln/>
        </p:spPr>
        <p:txBody>
          <a:bodyPr wrap="square" lIns="0" tIns="0" rIns="0" bIns="0" rtlCol="0" anchor="ctr"/>
          <a:lstStyle/>
          <a:p>
            <a:pPr indent="0" marL="0">
              <a:buNone/>
            </a:pPr>
            <a:r>
              <a:rPr lang="en-US" sz="1400" b="1" dirty="0">
                <a:solidFill>
                  <a:srgbClr val="FF7A18"/>
                </a:solidFill>
                <a:latin typeface="Arial" pitchFamily="34" charset="0"/>
                <a:ea typeface="Arial" pitchFamily="34" charset="-122"/>
                <a:cs typeface="Arial" pitchFamily="34" charset="-120"/>
              </a:rPr>
              <a:t>Did the model actually run on the phone today?</a:t>
            </a:r>
            <a:endParaRPr lang="en-US" sz="1400" dirty="0"/>
          </a:p>
        </p:txBody>
      </p:sp>
      <p:sp>
        <p:nvSpPr>
          <p:cNvPr id="12" name="qa1"/>
          <p:cNvSpPr txBox="1"/>
          <p:nvPr/>
        </p:nvSpPr>
        <p:spPr>
          <a:xfrm>
            <a:off x="1344168" y="3785616"/>
            <a:ext cx="9875520" cy="731520"/>
          </a:xfrm>
          <a:prstGeom prst="rect">
            <a:avLst/>
          </a:prstGeom>
          <a:noFill/>
          <a:ln/>
        </p:spPr>
        <p:txBody>
          <a:bodyPr wrap="square" lIns="0" tIns="0" rIns="0" bIns="0" rtlCol="0" anchor="t"/>
          <a:lstStyle/>
          <a:p>
            <a:pPr indent="0" marL="0">
              <a:lnSpc>
                <a:spcPct val="116000"/>
              </a:lnSpc>
              <a:buNone/>
            </a:pPr>
            <a:r>
              <a:rPr lang="en-US" sz="1150" dirty="0">
                <a:solidFill>
                  <a:srgbClr val="8A94AB"/>
                </a:solidFill>
                <a:latin typeface="Arial" pitchFamily="34" charset="0"/>
                <a:ea typeface="Arial" pitchFamily="34" charset="-122"/>
                <a:cs typeface="Arial" pitchFamily="34" charset="-120"/>
              </a:rPr>
              <a:t>The full pipeline is built: rectification, detection, the TSX renderer and the Office Kit transport. SmolVLM INT4 benchmarks at ~1.2 s on the 8s Gen 3 via Qualcomm AI Hub. Compiling the QNN C++ bridge did not fit in 24 hours, so the NPU layer is simulated at realistic latencies — the .bin swap is wired and ready.</a:t>
            </a:r>
            <a:endParaRPr lang="en-US" sz="1150" dirty="0"/>
          </a:p>
        </p:txBody>
      </p:sp>
      <p:sp>
        <p:nvSpPr>
          <p:cNvPr id="13" name="q2"/>
          <p:cNvSpPr/>
          <p:nvPr/>
        </p:nvSpPr>
        <p:spPr>
          <a:xfrm>
            <a:off x="685800" y="4663440"/>
            <a:ext cx="10817352" cy="1298448"/>
          </a:xfrm>
          <a:prstGeom prst="roundRect">
            <a:avLst>
              <a:gd name="adj" fmla="val 5634"/>
            </a:avLst>
          </a:prstGeom>
          <a:solidFill>
            <a:srgbClr val="121A2E">
              <a:alpha val="86000"/>
            </a:srgbClr>
          </a:solidFill>
          <a:ln w="12700">
            <a:solidFill>
              <a:srgbClr val="26314E"/>
            </a:solidFill>
            <a:prstDash val="solid"/>
          </a:ln>
        </p:spPr>
      </p:sp>
      <p:pic>
        <p:nvPicPr>
          <p:cNvPr id="14" name="qi2" descr="/home/claude/build/img/ic_helpcircle_em.png">    </p:cNvPr>
          <p:cNvPicPr>
            <a:picLocks noChangeAspect="1"/>
          </p:cNvPicPr>
          <p:nvPr/>
        </p:nvPicPr>
        <p:blipFill>
          <a:blip r:embed="rId4"/>
          <a:stretch>
            <a:fillRect/>
          </a:stretch>
        </p:blipFill>
        <p:spPr>
          <a:xfrm>
            <a:off x="923544" y="4846320"/>
            <a:ext cx="292608" cy="292608"/>
          </a:xfrm>
          <a:prstGeom prst="rect">
            <a:avLst/>
          </a:prstGeom>
        </p:spPr>
      </p:pic>
      <p:sp>
        <p:nvSpPr>
          <p:cNvPr id="15" name="qq2"/>
          <p:cNvSpPr txBox="1"/>
          <p:nvPr/>
        </p:nvSpPr>
        <p:spPr>
          <a:xfrm>
            <a:off x="1344168" y="4800600"/>
            <a:ext cx="9875520" cy="310896"/>
          </a:xfrm>
          <a:prstGeom prst="rect">
            <a:avLst/>
          </a:prstGeom>
          <a:noFill/>
          <a:ln/>
        </p:spPr>
        <p:txBody>
          <a:bodyPr wrap="square" lIns="0" tIns="0" rIns="0" bIns="0" rtlCol="0" anchor="ctr"/>
          <a:lstStyle/>
          <a:p>
            <a:pPr indent="0" marL="0">
              <a:buNone/>
            </a:pPr>
            <a:r>
              <a:rPr lang="en-US" sz="1400" b="1" dirty="0">
                <a:solidFill>
                  <a:srgbClr val="FF7A18"/>
                </a:solidFill>
                <a:latin typeface="Arial" pitchFamily="34" charset="0"/>
                <a:ea typeface="Arial" pitchFamily="34" charset="-122"/>
                <a:cs typeface="Arial" pitchFamily="34" charset="-120"/>
              </a:rPr>
              <a:t>Why use the clipboard for Office Kit?</a:t>
            </a:r>
            <a:endParaRPr lang="en-US" sz="1400" dirty="0"/>
          </a:p>
        </p:txBody>
      </p:sp>
      <p:sp>
        <p:nvSpPr>
          <p:cNvPr id="16" name="qa2"/>
          <p:cNvSpPr txBox="1"/>
          <p:nvPr/>
        </p:nvSpPr>
        <p:spPr>
          <a:xfrm>
            <a:off x="1344168" y="5157216"/>
            <a:ext cx="9875520" cy="731520"/>
          </a:xfrm>
          <a:prstGeom prst="rect">
            <a:avLst/>
          </a:prstGeom>
          <a:noFill/>
          <a:ln/>
        </p:spPr>
        <p:txBody>
          <a:bodyPr wrap="square" lIns="0" tIns="0" rIns="0" bIns="0" rtlCol="0" anchor="t"/>
          <a:lstStyle/>
          <a:p>
            <a:pPr indent="0" marL="0">
              <a:lnSpc>
                <a:spcPct val="116000"/>
              </a:lnSpc>
              <a:buNone/>
            </a:pPr>
            <a:r>
              <a:rPr lang="en-US" sz="1150" dirty="0">
                <a:solidFill>
                  <a:srgbClr val="8A94AB"/>
                </a:solidFill>
                <a:latin typeface="Arial" pitchFamily="34" charset="0"/>
                <a:ea typeface="Arial" pitchFamily="34" charset="-122"/>
                <a:cs typeface="Arial" pitchFamily="34" charset="-120"/>
              </a:rPr>
              <a:t>Because it needs no pairing. Android writes the payload, Office Kit mirrors it to Windows, the Node CLI picks it up. No ADB, no sockets, no IP addresses — nothing that can fail on stage.</a:t>
            </a:r>
            <a:endParaRPr lang="en-US" sz="1150" dirty="0"/>
          </a:p>
        </p:txBody>
      </p:sp>
      <p:sp>
        <p:nvSpPr>
          <p:cNvPr id="17" name="note"/>
          <p:cNvSpPr txBox="1"/>
          <p:nvPr/>
        </p:nvSpPr>
        <p:spPr>
          <a:xfrm>
            <a:off x="685800" y="6144768"/>
            <a:ext cx="10881360" cy="347472"/>
          </a:xfrm>
          <a:prstGeom prst="rect">
            <a:avLst/>
          </a:prstGeom>
          <a:noFill/>
          <a:ln/>
        </p:spPr>
        <p:txBody>
          <a:bodyPr wrap="square" lIns="0" tIns="0" rIns="0" bIns="0" rtlCol="0" anchor="ctr"/>
          <a:lstStyle/>
          <a:p>
            <a:pPr indent="0" marL="0">
              <a:buNone/>
            </a:pPr>
            <a:r>
              <a:rPr lang="en-US" sz="1250" i="1" dirty="0">
                <a:solidFill>
                  <a:srgbClr val="22D3EE"/>
                </a:solidFill>
                <a:latin typeface="Arial" pitchFamily="34" charset="0"/>
                <a:ea typeface="Arial" pitchFamily="34" charset="-122"/>
                <a:cs typeface="Arial" pitchFamily="34" charset="-120"/>
              </a:rPr>
              <a:t>Answer the second one honestly and fast. Judges reward a team that knows exactly what it did and did not finish.</a:t>
            </a:r>
            <a:endParaRPr lang="en-US" sz="12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42" presetClass="entr" presetSubtype="4"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50"/>
                                        <p:tgtEl>
                                          <p:spTgt spid="4"/>
                                        </p:tgtEl>
                                      </p:cBhvr>
                                    </p:animEffect>
                                    <p:anim calcmode="lin" valueType="num">
                                      <p:cBhvr additive="base">
                                        <p:cTn id="9" dur="650" fill="hold"/>
                                        <p:tgtEl>
                                          <p:spTgt spid="4"/>
                                        </p:tgtEl>
                                        <p:attrNameLst>
                                          <p:attrName>ppt_y</p:attrName>
                                        </p:attrNameLst>
                                      </p:cBhvr>
                                      <p:tavLst>
                                        <p:tav tm="0">
                                          <p:val>
                                            <p:strVal val="#ppt_y+0.045"/>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right)">
                                      <p:cBhvr>
                                        <p:cTn id="14" dur="500"/>
                                        <p:tgtEl>
                                          <p:spTgt spid="5"/>
                                        </p:tgtEl>
                                      </p:cBhvr>
                                    </p:animEffect>
                                  </p:childTnLst>
                                </p:cTn>
                              </p:par>
                              <p:par>
                                <p:cTn id="15" presetID="10" presetClass="entr" presetSubtype="0" fill="hold" grpId="0" nodeType="withEffect">
                                  <p:stCondLst>
                                    <p:cond delay="12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10" presetClass="entr" presetSubtype="0" fill="hold" grpId="0" nodeType="withEffect">
                                  <p:stCondLst>
                                    <p:cond delay="16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10" presetClass="entr" presetSubtype="0" fill="hold" grpId="0" nodeType="withEffect">
                                  <p:stCondLst>
                                    <p:cond delay="3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childTnLst>
                    </p:cTn>
                  </p:par>
                  <p:par>
                    <p:cTn id="38" fill="hold">
                      <p:stCondLst>
                        <p:cond delay="indefinite"/>
                      </p:stCondLst>
                      <p:childTnLst>
                        <p:par>
                          <p:cTn id="39"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right)">
                                      <p:cBhvr>
                                        <p:cTn id="28" dur="500"/>
                                        <p:tgtEl>
                                          <p:spTgt spid="9"/>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00"/>
                                        <p:tgtEl>
                                          <p:spTgt spid="10"/>
                                        </p:tgtEl>
                                      </p:cBhvr>
                                    </p:animEffect>
                                  </p:childTnLst>
                                </p:cTn>
                              </p:par>
                              <p:par>
                                <p:cTn id="32" presetID="10" presetClass="entr" presetSubtype="0" fill="hold" grpId="0" nodeType="withEffect">
                                  <p:stCondLst>
                                    <p:cond delay="1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par>
                                <p:cTn id="35" presetID="10" presetClass="entr" presetSubtype="0" fill="hold" grpId="0" nodeType="withEffect">
                                  <p:stCondLst>
                                    <p:cond delay="3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childTnLst>
                          </p:cTn>
                        </p:par>
                      </p:childTnLst>
                    </p:cTn>
                  </p:par>
                  <p:par>
                    <p:cTn id="52" fill="hold">
                      <p:stCondLst>
                        <p:cond delay="indefinite"/>
                      </p:stCondLst>
                      <p:childTnLst>
                        <p:par>
                          <p:cTn id="53"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right)">
                                      <p:cBhvr>
                                        <p:cTn id="42" dur="500"/>
                                        <p:tgtEl>
                                          <p:spTgt spid="13"/>
                                        </p:tgtEl>
                                      </p:cBhvr>
                                    </p:animEffect>
                                  </p:childTnLst>
                                </p:cTn>
                              </p:par>
                              <p:par>
                                <p:cTn id="43" presetID="10" presetClass="entr" presetSubtype="0" fill="hold" grpId="0" nodeType="withEffect">
                                  <p:stCondLst>
                                    <p:cond delay="12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300"/>
                                        <p:tgtEl>
                                          <p:spTgt spid="14"/>
                                        </p:tgtEl>
                                      </p:cBhvr>
                                    </p:animEffect>
                                  </p:childTnLst>
                                </p:cTn>
                              </p:par>
                              <p:par>
                                <p:cTn id="46" presetID="10" presetClass="entr" presetSubtype="0" fill="hold" grpId="0" nodeType="withEffect">
                                  <p:stCondLst>
                                    <p:cond delay="16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par>
                                <p:cTn id="49" presetID="10" presetClass="entr" presetSubtype="0" fill="hold" grpId="0" nodeType="withEffect">
                                  <p:stCondLst>
                                    <p:cond delay="32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50"/>
                                        <p:tgtEl>
                                          <p:spTgt spid="16"/>
                                        </p:tgtEl>
                                      </p:cBhvr>
                                    </p:animEffect>
                                  </p:childTnLst>
                                </p:cTn>
                              </p:par>
                            </p:childTnLst>
                          </p:cTn>
                        </p:par>
                      </p:childTnLst>
                    </p:cTn>
                  </p:par>
                  <p:par>
                    <p:cTn id="57" fill="hold">
                      <p:stCondLst>
                        <p:cond delay="indefinite"/>
                      </p:stCondLst>
                      <p:childTnLst>
                        <p:par>
                          <p:cTn id="58"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build/img/bg_finale.jpg">    </p:cNvPr>
          <p:cNvPicPr>
            <a:picLocks noChangeAspect="1"/>
          </p:cNvPicPr>
          <p:nvPr/>
        </p:nvPicPr>
        <p:blipFill>
          <a:blip r:embed="rId1"/>
          <a:stretch>
            <a:fillRect/>
          </a:stretch>
        </p:blipFill>
        <p:spPr>
          <a:xfrm>
            <a:off x="0" y="0"/>
            <a:ext cx="12191695" cy="6858000"/>
          </a:xfrm>
          <a:prstGeom prst="rect">
            <a:avLst/>
          </a:prstGeom>
        </p:spPr>
      </p:pic>
      <p:pic>
        <p:nvPicPr>
          <p:cNvPr id="3" name="mark" descr="/home/claude/build/img/wordmark.png">    </p:cNvPr>
          <p:cNvPicPr>
            <a:picLocks noChangeAspect="1"/>
          </p:cNvPicPr>
          <p:nvPr/>
        </p:nvPicPr>
        <p:blipFill>
          <a:blip r:embed="rId2"/>
          <a:stretch>
            <a:fillRect/>
          </a:stretch>
        </p:blipFill>
        <p:spPr>
          <a:xfrm>
            <a:off x="3986784" y="1234440"/>
            <a:ext cx="4206240" cy="996696"/>
          </a:xfrm>
          <a:prstGeom prst="rect">
            <a:avLst/>
          </a:prstGeom>
        </p:spPr>
      </p:pic>
      <p:sp>
        <p:nvSpPr>
          <p:cNvPr id="4" name="head"/>
          <p:cNvSpPr txBox="1"/>
          <p:nvPr/>
        </p:nvSpPr>
        <p:spPr>
          <a:xfrm>
            <a:off x="1069848" y="2487168"/>
            <a:ext cx="10058400" cy="548640"/>
          </a:xfrm>
          <a:prstGeom prst="rect">
            <a:avLst/>
          </a:prstGeom>
          <a:noFill/>
          <a:ln/>
        </p:spPr>
        <p:txBody>
          <a:bodyPr wrap="square" lIns="0" tIns="0" rIns="0" bIns="0" rtlCol="0" anchor="ctr"/>
          <a:lstStyle/>
          <a:p>
            <a:pPr algn="ctr" indent="0" marL="0">
              <a:buNone/>
            </a:pPr>
            <a:r>
              <a:rPr lang="en-US" sz="3000" b="1" dirty="0">
                <a:solidFill>
                  <a:srgbClr val="E8ECF5"/>
                </a:solidFill>
                <a:latin typeface="Arial" pitchFamily="34" charset="0"/>
                <a:ea typeface="Arial" pitchFamily="34" charset="-122"/>
                <a:cs typeface="Arial" pitchFamily="34" charset="-120"/>
              </a:rPr>
              <a:t>The cloud is no longer required for heavy AI.</a:t>
            </a:r>
            <a:endParaRPr lang="en-US" sz="3000" dirty="0"/>
          </a:p>
        </p:txBody>
      </p:sp>
      <p:sp>
        <p:nvSpPr>
          <p:cNvPr id="5" name="sub"/>
          <p:cNvSpPr txBox="1"/>
          <p:nvPr/>
        </p:nvSpPr>
        <p:spPr>
          <a:xfrm>
            <a:off x="1069848" y="3090672"/>
            <a:ext cx="10058400" cy="365760"/>
          </a:xfrm>
          <a:prstGeom prst="rect">
            <a:avLst/>
          </a:prstGeom>
          <a:noFill/>
          <a:ln/>
        </p:spPr>
        <p:txBody>
          <a:bodyPr wrap="square" lIns="0" tIns="0" rIns="0" bIns="0" rtlCol="0" anchor="ctr"/>
          <a:lstStyle/>
          <a:p>
            <a:pPr algn="ctr" indent="0" marL="0">
              <a:buNone/>
            </a:pPr>
            <a:r>
              <a:rPr lang="en-US" sz="1600" dirty="0">
                <a:solidFill>
                  <a:srgbClr val="22D3EE"/>
                </a:solidFill>
                <a:latin typeface="Arial" pitchFamily="34" charset="0"/>
                <a:ea typeface="Arial" pitchFamily="34" charset="-122"/>
                <a:cs typeface="Arial" pitchFamily="34" charset="-120"/>
              </a:rPr>
              <a:t>We are bringing development to the edge — and the edge is already in your pocket.</a:t>
            </a:r>
            <a:endParaRPr lang="en-US" sz="1600" dirty="0"/>
          </a:p>
        </p:txBody>
      </p:sp>
      <p:sp>
        <p:nvSpPr>
          <p:cNvPr id="6" name="qr"/>
          <p:cNvSpPr/>
          <p:nvPr/>
        </p:nvSpPr>
        <p:spPr>
          <a:xfrm>
            <a:off x="5385816" y="3639312"/>
            <a:ext cx="1417320" cy="1417320"/>
          </a:xfrm>
          <a:prstGeom prst="roundRect">
            <a:avLst>
              <a:gd name="adj" fmla="val 5161"/>
            </a:avLst>
          </a:prstGeom>
          <a:solidFill>
            <a:srgbClr val="0A0E17">
              <a:alpha val="70000"/>
            </a:srgbClr>
          </a:solidFill>
          <a:ln w="19050">
            <a:solidFill>
              <a:srgbClr val="FF7A18"/>
            </a:solidFill>
            <a:prstDash val="dash"/>
          </a:ln>
        </p:spPr>
      </p:sp>
      <p:sp>
        <p:nvSpPr>
          <p:cNvPr id="7" name="qrt"/>
          <p:cNvSpPr txBox="1"/>
          <p:nvPr/>
        </p:nvSpPr>
        <p:spPr>
          <a:xfrm>
            <a:off x="5385816" y="3639312"/>
            <a:ext cx="1417320" cy="1417320"/>
          </a:xfrm>
          <a:prstGeom prst="rect">
            <a:avLst/>
          </a:prstGeom>
          <a:noFill/>
          <a:ln/>
        </p:spPr>
        <p:txBody>
          <a:bodyPr wrap="square" lIns="0" tIns="0" rIns="0" bIns="0" rtlCol="0" anchor="ctr"/>
          <a:lstStyle/>
          <a:p>
            <a:pPr algn="ctr" indent="0" marL="0">
              <a:lnSpc>
                <a:spcPct val="120000"/>
              </a:lnSpc>
              <a:buNone/>
            </a:pPr>
            <a:r>
              <a:rPr lang="en-US" sz="1100" b="1" spc="140" kern="0" dirty="0">
                <a:solidFill>
                  <a:srgbClr val="FFB347"/>
                </a:solidFill>
                <a:latin typeface="Arial" pitchFamily="34" charset="0"/>
                <a:ea typeface="Arial" pitchFamily="34" charset="-122"/>
                <a:cs typeface="Arial" pitchFamily="34" charset="-120"/>
              </a:rPr>
              <a:t>YOUR</a:t>
            </a:r>
            <a:endParaRPr lang="en-US" sz="1100" dirty="0"/>
          </a:p>
          <a:p>
            <a:pPr algn="ctr" indent="0" marL="0">
              <a:lnSpc>
                <a:spcPct val="120000"/>
              </a:lnSpc>
              <a:buNone/>
            </a:pPr>
            <a:r>
              <a:rPr lang="en-US" sz="1100" b="1" spc="140" kern="0" dirty="0">
                <a:solidFill>
                  <a:srgbClr val="FFB347"/>
                </a:solidFill>
                <a:latin typeface="Arial" pitchFamily="34" charset="0"/>
                <a:ea typeface="Arial" pitchFamily="34" charset="-122"/>
                <a:cs typeface="Arial" pitchFamily="34" charset="-120"/>
              </a:rPr>
              <a:t>REPO QR</a:t>
            </a:r>
            <a:endParaRPr lang="en-US" sz="1100" dirty="0"/>
          </a:p>
        </p:txBody>
      </p:sp>
      <p:sp>
        <p:nvSpPr>
          <p:cNvPr id="8" name="repo"/>
          <p:cNvSpPr txBox="1"/>
          <p:nvPr/>
        </p:nvSpPr>
        <p:spPr>
          <a:xfrm>
            <a:off x="0" y="5175504"/>
            <a:ext cx="12191695" cy="292608"/>
          </a:xfrm>
          <a:prstGeom prst="rect">
            <a:avLst/>
          </a:prstGeom>
          <a:noFill/>
          <a:ln/>
        </p:spPr>
        <p:txBody>
          <a:bodyPr wrap="square" lIns="0" tIns="0" rIns="0" bIns="0" rtlCol="0" anchor="ctr"/>
          <a:lstStyle/>
          <a:p>
            <a:pPr algn="ctr" indent="0" marL="0">
              <a:buNone/>
            </a:pPr>
            <a:r>
              <a:rPr lang="en-US" sz="1200" dirty="0">
                <a:solidFill>
                  <a:srgbClr val="8A94AB"/>
                </a:solidFill>
                <a:latin typeface="Courier New" pitchFamily="34" charset="0"/>
                <a:ea typeface="Courier New" pitchFamily="34" charset="-122"/>
                <a:cs typeface="Courier New" pitchFamily="34" charset="-120"/>
              </a:rPr>
              <a:t>github.com/your-team/snapforge</a:t>
            </a:r>
            <a:endParaRPr lang="en-US" sz="1200" dirty="0"/>
          </a:p>
        </p:txBody>
      </p:sp>
      <p:sp>
        <p:nvSpPr>
          <p:cNvPr id="9" name="ty"/>
          <p:cNvSpPr txBox="1"/>
          <p:nvPr/>
        </p:nvSpPr>
        <p:spPr>
          <a:xfrm>
            <a:off x="0" y="5577840"/>
            <a:ext cx="12191695" cy="457200"/>
          </a:xfrm>
          <a:prstGeom prst="rect">
            <a:avLst/>
          </a:prstGeom>
          <a:noFill/>
          <a:ln/>
        </p:spPr>
        <p:txBody>
          <a:bodyPr wrap="square" lIns="0" tIns="0" rIns="0" bIns="0" rtlCol="0" anchor="ctr"/>
          <a:lstStyle/>
          <a:p>
            <a:pPr algn="ctr" indent="0" marL="0">
              <a:buNone/>
            </a:pPr>
            <a:r>
              <a:rPr lang="en-US" sz="2400" b="1" spc="700" kern="0" dirty="0">
                <a:solidFill>
                  <a:srgbClr val="E8ECF5"/>
                </a:solidFill>
                <a:latin typeface="Arial" pitchFamily="34" charset="0"/>
                <a:ea typeface="Arial" pitchFamily="34" charset="-122"/>
                <a:cs typeface="Arial" pitchFamily="34" charset="-120"/>
              </a:rPr>
              <a:t>THANK YOU</a:t>
            </a:r>
            <a:endParaRPr lang="en-US" sz="2400" dirty="0"/>
          </a:p>
        </p:txBody>
      </p:sp>
      <p:sp>
        <p:nvSpPr>
          <p:cNvPr id="10" name="foot"/>
          <p:cNvSpPr txBox="1"/>
          <p:nvPr/>
        </p:nvSpPr>
        <p:spPr>
          <a:xfrm>
            <a:off x="0" y="6108192"/>
            <a:ext cx="12191695" cy="292608"/>
          </a:xfrm>
          <a:prstGeom prst="rect">
            <a:avLst/>
          </a:prstGeom>
          <a:noFill/>
          <a:ln/>
        </p:spPr>
        <p:txBody>
          <a:bodyPr wrap="square" lIns="0" tIns="0" rIns="0" bIns="0" rtlCol="0" anchor="ctr"/>
          <a:lstStyle/>
          <a:p>
            <a:pPr algn="ctr" indent="0" marL="0">
              <a:buNone/>
            </a:pPr>
            <a:r>
              <a:rPr lang="en-US" sz="1050" spc="220" kern="0" dirty="0">
                <a:solidFill>
                  <a:srgbClr val="8A94AB"/>
                </a:solidFill>
                <a:latin typeface="Arial" pitchFamily="34" charset="0"/>
                <a:ea typeface="Arial" pitchFamily="34" charset="-122"/>
                <a:cs typeface="Arial" pitchFamily="34" charset="-120"/>
              </a:rPr>
              <a:t>TEAM  ·  YOUR TEAM NAME   ·   iQOO HACKATHON   ·   SNAPDRAGON 8s GEN 3</a:t>
            </a:r>
            <a:endParaRPr lang="en-US" sz="105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700"/>
                                        <p:tgtEl>
                                          <p:spTgt spid="3"/>
                                        </p:tgtEl>
                                      </p:cBhvr>
                                    </p:animEffect>
                                  </p:childTnLst>
                                </p:cTn>
                              </p:par>
                            </p:childTnLst>
                          </p:cTn>
                        </p:par>
                      </p:childTnLst>
                    </p:cTn>
                  </p:par>
                  <p:par>
                    <p:cTn id="15" fill="hold">
                      <p:stCondLst>
                        <p:cond delay="indefinite"/>
                      </p:stCondLst>
                      <p:childTnLst>
                        <p:par>
                          <p:cTn id="16" fill="hold">
                            <p:stCondLst>
                              <p:cond delay="0"/>
                            </p:stCondLst>
                            <p:childTnLst>
                              <p:par>
                                <p:cTn id="8" presetID="42" presetClass="entr" presetSubtype="4"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p:tgtEl>
                                          <p:spTgt spid="4"/>
                                        </p:tgtEl>
                                        <p:attrNameLst>
                                          <p:attrName>ppt_y</p:attrName>
                                        </p:attrNameLst>
                                      </p:cBhvr>
                                      <p:tavLst>
                                        <p:tav tm="0">
                                          <p:val>
                                            <p:strVal val="#ppt_y+0.045"/>
                                          </p:val>
                                        </p:tav>
                                        <p:tav tm="100000">
                                          <p:val>
                                            <p:strVal val="#ppt_y"/>
                                          </p:val>
                                        </p:tav>
                                      </p:tavLst>
                                    </p:anim>
                                  </p:childTnLst>
                                </p:cTn>
                              </p:par>
                              <p:par>
                                <p:cTn id="12" presetID="10" presetClass="entr" presetSubtype="0" fill="hold" grpId="0" nodeType="withEffect">
                                  <p:stCondLst>
                                    <p:cond delay="35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00"/>
                                        <p:tgtEl>
                                          <p:spTgt spid="5"/>
                                        </p:tgtEl>
                                      </p:cBhvr>
                                    </p:animEffect>
                                  </p:childTnLst>
                                </p:cTn>
                              </p:par>
                            </p:childTnLst>
                          </p:cTn>
                        </p:par>
                      </p:childTnLst>
                    </p:cTn>
                  </p:par>
                  <p:par>
                    <p:cTn id="27" fill="hold">
                      <p:stCondLst>
                        <p:cond delay="indefinite"/>
                      </p:stCondLst>
                      <p:childTnLst>
                        <p:par>
                          <p:cTn id="28"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animScale>
                                      <p:cBhvr>
                                        <p:cTn id="20" dur="450" fill="hold"/>
                                        <p:tgtEl>
                                          <p:spTgt spid="6"/>
                                        </p:tgtEl>
                                      </p:cBhvr>
                                      <p:from x="62000" y="62000"/>
                                      <p:to x="100000" y="100000"/>
                                    </p:animScale>
                                  </p:childTnLst>
                                </p:cTn>
                              </p:par>
                              <p:par>
                                <p:cTn id="21" presetID="10" presetClass="entr" presetSubtype="0" fill="hold" grpId="0" nodeType="withEffect">
                                  <p:stCondLst>
                                    <p:cond delay="1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00"/>
                                        <p:tgtEl>
                                          <p:spTgt spid="7"/>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childTnLst>
                          </p:cTn>
                        </p:par>
                      </p:childTnLst>
                    </p:cTn>
                  </p:par>
                  <p:par>
                    <p:cTn id="36" fill="hold">
                      <p:stCondLst>
                        <p:cond delay="indefinite"/>
                      </p:stCondLst>
                      <p:childTnLst>
                        <p:par>
                          <p:cTn id="37" fill="hold">
                            <p:stCondLst>
                              <p:cond delay="0"/>
                            </p:stCondLst>
                            <p:childTnLst>
                              <p:par>
                                <p:cTn id="29" presetID="4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700"/>
                                        <p:tgtEl>
                                          <p:spTgt spid="9"/>
                                        </p:tgtEl>
                                      </p:cBhvr>
                                    </p:animEffect>
                                    <p:anim calcmode="lin" valueType="num">
                                      <p:cBhvr additive="base">
                                        <p:cTn id="32" dur="700" fill="hold"/>
                                        <p:tgtEl>
                                          <p:spTgt spid="9"/>
                                        </p:tgtEl>
                                        <p:attrNameLst>
                                          <p:attrName>ppt_y</p:attrName>
                                        </p:attrNameLst>
                                      </p:cBhvr>
                                      <p:tavLst>
                                        <p:tav tm="0">
                                          <p:val>
                                            <p:strVal val="#ppt_y+0.045"/>
                                          </p:val>
                                        </p:tav>
                                        <p:tav tm="100000">
                                          <p:val>
                                            <p:strVal val="#ppt_y"/>
                                          </p:val>
                                        </p:tav>
                                      </p:tavLst>
                                    </p:anim>
                                  </p:childTnLst>
                                </p:cTn>
                              </p:par>
                              <p:par>
                                <p:cTn id="33" presetID="10" presetClass="entr" presetSubtype="0" fill="hold" grpId="0" nodeType="withEffect">
                                  <p:stCondLst>
                                    <p:cond delay="3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SnapForge — Code at the Edge</dc:title>
  <dc:subject>PptxGenJS Presentation</dc:subject>
  <dc:creator>SnapForge</dc:creator>
  <cp:lastModifiedBy>SnapForge</cp:lastModifiedBy>
  <cp:revision>1</cp:revision>
  <dcterms:created xsi:type="dcterms:W3CDTF">2026-09-21T10:30:28Z</dcterms:created>
  <dcterms:modified xsi:type="dcterms:W3CDTF">2026-09-21T10:30:28Z</dcterms:modified>
</cp:coreProperties>
</file>